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67886" autoAdjust="0"/>
  </p:normalViewPr>
  <p:slideViewPr>
    <p:cSldViewPr snapToGrid="0">
      <p:cViewPr varScale="1">
        <p:scale>
          <a:sx n="42" d="100"/>
          <a:sy n="42" d="100"/>
        </p:scale>
        <p:origin x="64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9B6E94-AAB4-4FA1-B546-A199D3606261}" type="datetimeFigureOut">
              <a:rPr lang="hr-HR" smtClean="0"/>
              <a:t>8.10.2025.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AC1A8-5D8A-442A-B1BF-FF25967EA6F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81530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AC1A8-5D8A-442A-B1BF-FF25967EA6F4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78222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AC1A8-5D8A-442A-B1BF-FF25967EA6F4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87879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F70C3-B5B7-F1FF-B5EC-B660294AC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85C6D831-9DAC-C2CA-4362-2F2F70494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EEDB461A-8EA4-FB11-2D2F-46F39CE58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75B11A55-A470-1FF8-F928-0861E511A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AC1A8-5D8A-442A-B1BF-FF25967EA6F4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43938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ADF39-0738-AA62-56DA-07139A483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569B24AE-A66E-47E6-9E1F-FE65E21A5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56B48EE4-22DE-B4E9-18D2-4B55C656D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119E240E-EF5A-0E26-4D2C-78DDE6773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AC1A8-5D8A-442A-B1BF-FF25967EA6F4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17584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2168-5950-DE33-2D87-845FAE02F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F0A44DFC-72A0-8C93-124D-D651DE4DB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79367A76-E1FC-C679-AB3B-EF970F19C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DBD1C873-A312-F463-4EB1-1EEA86A8F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AC1A8-5D8A-442A-B1BF-FF25967EA6F4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11008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F2E27-6F42-8C54-3664-853E22CA7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11FC5CA8-DFFE-E102-862C-F34197FE4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8667EB7A-2C65-FE45-084E-C0044DAE2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6BD97245-BC4C-51AC-5120-58736EED2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AC1A8-5D8A-442A-B1BF-FF25967EA6F4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06500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3E97D-37A6-9715-FE43-75DC44822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CF6926D6-2E91-44C7-8394-15A8D8384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4B358975-5092-EDB9-247C-C8051297F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58D65F75-43AB-8222-5B9D-E4BD6CCF0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AC1A8-5D8A-442A-B1BF-FF25967EA6F4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35933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B704357-0EA3-9786-4661-685DFCB01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9EC0E056-E5A0-1F43-C90E-ECE5825D6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54ADF809-844F-2A71-53EB-0E52E02B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0F9-E607-4427-A0C9-46701C3F9BBD}" type="datetimeFigureOut">
              <a:rPr lang="hr-HR" smtClean="0"/>
              <a:t>8.10.2025.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44440372-3A6E-FABE-EDF4-4358F0494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4311244C-736B-A5F2-C1CB-5C1E5B29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685C-04B4-4539-ACCA-15082D938A1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79512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C1A4633-5683-7D67-FA0C-72549B67B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480F27D-4B9F-BF9C-5D42-2269FBBC2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9D8B0F30-1443-A88B-CD16-1D5B54E3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0F9-E607-4427-A0C9-46701C3F9BBD}" type="datetimeFigureOut">
              <a:rPr lang="hr-HR" smtClean="0"/>
              <a:t>8.10.2025.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315FF687-DBE3-D019-CF0E-A07C483BA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ED3FA48-201C-F62F-088B-32766E0BC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685C-04B4-4539-ACCA-15082D938A1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2031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B690D8C-0CC2-0AEE-F508-1B8B8843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EAD637D4-46EC-9749-DA4E-4EA3ADD39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02DDF986-4333-E985-8D2C-1C0C7C735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0F9-E607-4427-A0C9-46701C3F9BBD}" type="datetimeFigureOut">
              <a:rPr lang="hr-HR" smtClean="0"/>
              <a:t>8.10.2025.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CC200385-B87A-3F7C-643A-61AE61DD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5230DA3E-676F-E8E6-A32F-61DDC2B1A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685C-04B4-4539-ACCA-15082D938A1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738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5D0B411-EF15-3E2E-9638-EAEB1F06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AEF3B09-8D56-53B3-2F31-D908FC68A9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0C78F133-E5B0-1702-4805-F051569F2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C0278647-B4BA-AF8C-48C4-1BD856777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0F9-E607-4427-A0C9-46701C3F9BBD}" type="datetimeFigureOut">
              <a:rPr lang="hr-HR" smtClean="0"/>
              <a:t>8.10.2025.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4D43DD82-1A8B-BA18-1351-0127CC33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3C848102-81FB-643B-3264-95DA0D08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685C-04B4-4539-ACCA-15082D938A1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46280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B7FF5D8-C471-F3E5-2E61-A02221737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5A214C3D-199B-89A7-1B1C-01FC508C4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C23C776A-EB09-ED1F-2DCB-69375F56F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teksta 4">
            <a:extLst>
              <a:ext uri="{FF2B5EF4-FFF2-40B4-BE49-F238E27FC236}">
                <a16:creationId xmlns:a16="http://schemas.microsoft.com/office/drawing/2014/main" id="{74FED711-696C-05B8-283D-3629D6B4E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4C79D8EB-AEA0-BDE8-2A55-E76EA5593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7" name="Rezervirano mjesto datuma 6">
            <a:extLst>
              <a:ext uri="{FF2B5EF4-FFF2-40B4-BE49-F238E27FC236}">
                <a16:creationId xmlns:a16="http://schemas.microsoft.com/office/drawing/2014/main" id="{6A5E55F8-4325-0BA6-2566-166F2D8EE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0F9-E607-4427-A0C9-46701C3F9BBD}" type="datetimeFigureOut">
              <a:rPr lang="hr-HR" smtClean="0"/>
              <a:t>8.10.2025.</a:t>
            </a:fld>
            <a:endParaRPr lang="hr-HR"/>
          </a:p>
        </p:txBody>
      </p:sp>
      <p:sp>
        <p:nvSpPr>
          <p:cNvPr id="8" name="Rezervirano mjesto podnožja 7">
            <a:extLst>
              <a:ext uri="{FF2B5EF4-FFF2-40B4-BE49-F238E27FC236}">
                <a16:creationId xmlns:a16="http://schemas.microsoft.com/office/drawing/2014/main" id="{C0E9F91F-9D94-F2ED-D0E6-E45565A6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>
            <a:extLst>
              <a:ext uri="{FF2B5EF4-FFF2-40B4-BE49-F238E27FC236}">
                <a16:creationId xmlns:a16="http://schemas.microsoft.com/office/drawing/2014/main" id="{069CD7DA-AB04-35AF-5195-DB54F3F4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685C-04B4-4539-ACCA-15082D938A1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94859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A05FC4B-3A86-FBC3-D889-38585F647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2CF16DB2-8E2B-2FA6-9E57-69AC34888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0F9-E607-4427-A0C9-46701C3F9BBD}" type="datetimeFigureOut">
              <a:rPr lang="hr-HR" smtClean="0"/>
              <a:t>8.10.2025.</a:t>
            </a:fld>
            <a:endParaRPr lang="hr-HR"/>
          </a:p>
        </p:txBody>
      </p:sp>
      <p:sp>
        <p:nvSpPr>
          <p:cNvPr id="4" name="Rezervirano mjesto podnožja 3">
            <a:extLst>
              <a:ext uri="{FF2B5EF4-FFF2-40B4-BE49-F238E27FC236}">
                <a16:creationId xmlns:a16="http://schemas.microsoft.com/office/drawing/2014/main" id="{B89262D3-B876-EB16-9EC2-005466A02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876C767D-F7B8-18B7-64A8-F7628546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685C-04B4-4539-ACCA-15082D938A1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44897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B4AC47DB-CB1E-9CD4-7907-D7F5F5B2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0F9-E607-4427-A0C9-46701C3F9BBD}" type="datetimeFigureOut">
              <a:rPr lang="hr-HR" smtClean="0"/>
              <a:t>8.10.2025.</a:t>
            </a:fld>
            <a:endParaRPr lang="hr-HR"/>
          </a:p>
        </p:txBody>
      </p:sp>
      <p:sp>
        <p:nvSpPr>
          <p:cNvPr id="3" name="Rezervirano mjesto podnožja 2">
            <a:extLst>
              <a:ext uri="{FF2B5EF4-FFF2-40B4-BE49-F238E27FC236}">
                <a16:creationId xmlns:a16="http://schemas.microsoft.com/office/drawing/2014/main" id="{E5552894-5E55-1AB4-2A10-13AE4923B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19374B22-131C-7CA6-9208-6F2C5F3D1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685C-04B4-4539-ACCA-15082D938A1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26273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7242E77-DA99-FBDB-9EE2-4996E2BD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419A419-CE0D-D13A-8B46-A60DC6F67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88DD2809-DC63-E93A-C2BE-A5D7CF707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ED1B12ED-91C7-3A4F-5454-D366CCE84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0F9-E607-4427-A0C9-46701C3F9BBD}" type="datetimeFigureOut">
              <a:rPr lang="hr-HR" smtClean="0"/>
              <a:t>8.10.2025.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C9B6BB20-3531-CB55-31E9-F189D6694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59744963-2B61-37C8-9F03-081BF6A7A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685C-04B4-4539-ACCA-15082D938A1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14011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8317D1D-2C67-1103-5C0B-229AAD9CA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like 2">
            <a:extLst>
              <a:ext uri="{FF2B5EF4-FFF2-40B4-BE49-F238E27FC236}">
                <a16:creationId xmlns:a16="http://schemas.microsoft.com/office/drawing/2014/main" id="{1F5D195D-0137-ED06-DE4B-CB1801617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B541A7E1-3F56-006D-2855-C5E05347F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7B4792F2-2223-25A9-D579-E92CEFB0F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0F9-E607-4427-A0C9-46701C3F9BBD}" type="datetimeFigureOut">
              <a:rPr lang="hr-HR" smtClean="0"/>
              <a:t>8.10.2025.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F92D3451-D9BC-4CB5-FE04-0E4A5799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629EE0DA-D725-5F33-427F-312855152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685C-04B4-4539-ACCA-15082D938A1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4130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76767F2-8333-6EDC-F5CF-3E0B0F3A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37CABEC3-68D9-ABAB-9C4B-2C6D8C8F6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658E6058-A4F4-6F19-0565-8181DF1FE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0F9-E607-4427-A0C9-46701C3F9BBD}" type="datetimeFigureOut">
              <a:rPr lang="hr-HR" smtClean="0"/>
              <a:t>8.10.2025.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33F52132-C3B6-6F23-E887-485CCFD3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429CA1BA-1186-4771-9C45-173636C1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685C-04B4-4539-ACCA-15082D938A1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0580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>
            <a:extLst>
              <a:ext uri="{FF2B5EF4-FFF2-40B4-BE49-F238E27FC236}">
                <a16:creationId xmlns:a16="http://schemas.microsoft.com/office/drawing/2014/main" id="{F5E8942F-0772-E12F-1310-EF48EAA43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CB3F6930-B8E7-48A3-888F-AF1AC1CBA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EC3E1CC0-F85A-61D7-E66C-47A65A6D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0F9-E607-4427-A0C9-46701C3F9BBD}" type="datetimeFigureOut">
              <a:rPr lang="hr-HR" smtClean="0"/>
              <a:t>8.10.2025.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A80B415E-9B14-BD8A-07B6-D813BB2E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9EAF3F64-598B-A090-C438-1103896FF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685C-04B4-4539-ACCA-15082D938A1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3615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76855BB9-A4EC-FAB2-F425-EE6F69D42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5D1DC04B-5F05-437A-CB63-8B1EC6593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7C582F7D-0AB0-4963-1BAE-58F94D924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B50F9-E607-4427-A0C9-46701C3F9BBD}" type="datetimeFigureOut">
              <a:rPr lang="hr-HR" smtClean="0"/>
              <a:t>8.10.2025.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1BAEF23B-DDC4-CECC-0C85-41F44892E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0661B946-1929-0751-9C8A-D4DEA30A2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C685C-04B4-4539-ACCA-15082D938A1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40639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2B5305D-3EEE-6432-297A-876CB440A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84AC74B6-B93E-AA53-DDA2-F4923A11D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187" y="0"/>
            <a:ext cx="3857625" cy="6858000"/>
          </a:xfrm>
          <a:prstGeom prst="rect">
            <a:avLst/>
          </a:prstGeom>
        </p:spPr>
      </p:pic>
      <p:sp>
        <p:nvSpPr>
          <p:cNvPr id="3" name="Podnaslov 2">
            <a:extLst>
              <a:ext uri="{FF2B5EF4-FFF2-40B4-BE49-F238E27FC236}">
                <a16:creationId xmlns:a16="http://schemas.microsoft.com/office/drawing/2014/main" id="{C0AB99F9-0E85-3EB1-4447-8AE7F8F5F6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19" name="Slika 18">
            <a:extLst>
              <a:ext uri="{FF2B5EF4-FFF2-40B4-BE49-F238E27FC236}">
                <a16:creationId xmlns:a16="http://schemas.microsoft.com/office/drawing/2014/main" id="{1FCF375B-18DF-10C9-52A6-81B381985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" y="93515"/>
            <a:ext cx="12177713" cy="6858000"/>
          </a:xfrm>
          <a:prstGeom prst="rect">
            <a:avLst/>
          </a:prstGeom>
        </p:spPr>
      </p:pic>
      <p:sp>
        <p:nvSpPr>
          <p:cNvPr id="27" name="TekstniOkvir 26">
            <a:extLst>
              <a:ext uri="{FF2B5EF4-FFF2-40B4-BE49-F238E27FC236}">
                <a16:creationId xmlns:a16="http://schemas.microsoft.com/office/drawing/2014/main" id="{6BD9770B-FAAE-B6E5-F4CA-34028DEEFA0E}"/>
              </a:ext>
            </a:extLst>
          </p:cNvPr>
          <p:cNvSpPr txBox="1"/>
          <p:nvPr/>
        </p:nvSpPr>
        <p:spPr>
          <a:xfrm>
            <a:off x="658762" y="142666"/>
            <a:ext cx="11472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7200" spc="1000" dirty="0" err="1">
                <a:solidFill>
                  <a:schemeClr val="bg1"/>
                </a:solidFill>
                <a:latin typeface="Felix Titling" panose="04060505060202020A04" pitchFamily="82" charset="0"/>
              </a:rPr>
              <a:t>FOLDERi</a:t>
            </a:r>
            <a:r>
              <a:rPr lang="hr-HR" sz="7200" spc="1000" dirty="0">
                <a:solidFill>
                  <a:schemeClr val="bg1"/>
                </a:solidFill>
                <a:latin typeface="Felix Titling" panose="04060505060202020A04" pitchFamily="82" charset="0"/>
              </a:rPr>
              <a:t>(</a:t>
            </a:r>
            <a:r>
              <a:rPr lang="hr-HR" sz="7200" spc="1000" dirty="0" err="1">
                <a:solidFill>
                  <a:schemeClr val="bg1"/>
                </a:solidFill>
                <a:latin typeface="Felix Titling" panose="04060505060202020A04" pitchFamily="82" charset="0"/>
              </a:rPr>
              <a:t>fajlovi</a:t>
            </a:r>
            <a:r>
              <a:rPr lang="hr-HR" sz="7200" spc="1000" dirty="0">
                <a:solidFill>
                  <a:schemeClr val="bg1"/>
                </a:solidFill>
                <a:latin typeface="Felix Titling" panose="04060505060202020A04" pitchFamily="82" charset="0"/>
              </a:rPr>
              <a:t>)</a:t>
            </a:r>
          </a:p>
        </p:txBody>
      </p:sp>
      <p:pic>
        <p:nvPicPr>
          <p:cNvPr id="33" name="Slika 32">
            <a:extLst>
              <a:ext uri="{FF2B5EF4-FFF2-40B4-BE49-F238E27FC236}">
                <a16:creationId xmlns:a16="http://schemas.microsoft.com/office/drawing/2014/main" id="{8B059BE4-435F-8427-86DC-2AECABAA141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0629"/>
                    </a14:imgEffect>
                    <a14:imgEffect>
                      <a14:saturation sat="11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91642" y="4361104"/>
            <a:ext cx="3037235" cy="2745409"/>
          </a:xfrm>
          <a:prstGeom prst="rect">
            <a:avLst/>
          </a:prstGeom>
        </p:spPr>
      </p:pic>
      <p:sp>
        <p:nvSpPr>
          <p:cNvPr id="35" name="TekstniOkvir 34">
            <a:extLst>
              <a:ext uri="{FF2B5EF4-FFF2-40B4-BE49-F238E27FC236}">
                <a16:creationId xmlns:a16="http://schemas.microsoft.com/office/drawing/2014/main" id="{FA1AC298-AB80-56E0-4A02-7EB3F88F186B}"/>
              </a:ext>
            </a:extLst>
          </p:cNvPr>
          <p:cNvSpPr txBox="1"/>
          <p:nvPr/>
        </p:nvSpPr>
        <p:spPr>
          <a:xfrm>
            <a:off x="8948063" y="3934361"/>
            <a:ext cx="40750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4000" dirty="0">
                <a:solidFill>
                  <a:schemeClr val="bg1"/>
                </a:solidFill>
                <a:latin typeface="Felix Titling" panose="04060505060202020A04" pitchFamily="82" charset="0"/>
              </a:rPr>
              <a:t>NURUDIN ZAHIROVIC</a:t>
            </a:r>
          </a:p>
        </p:txBody>
      </p:sp>
      <p:sp>
        <p:nvSpPr>
          <p:cNvPr id="38" name="TekstniOkvir 37">
            <a:extLst>
              <a:ext uri="{FF2B5EF4-FFF2-40B4-BE49-F238E27FC236}">
                <a16:creationId xmlns:a16="http://schemas.microsoft.com/office/drawing/2014/main" id="{12AF49A4-963B-C90A-CB3E-D56201CACF00}"/>
              </a:ext>
            </a:extLst>
          </p:cNvPr>
          <p:cNvSpPr txBox="1"/>
          <p:nvPr/>
        </p:nvSpPr>
        <p:spPr>
          <a:xfrm>
            <a:off x="1326975" y="10173773"/>
            <a:ext cx="66093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/>
              <a:t>Folder (mapa) služi za čuvanje i organizaciju </a:t>
            </a:r>
            <a:r>
              <a:rPr lang="hr-HR" dirty="0" err="1"/>
              <a:t>fajlova</a:t>
            </a:r>
            <a:endParaRPr lang="hr-HR" dirty="0"/>
          </a:p>
          <a:p>
            <a:r>
              <a:rPr lang="hr-HR" dirty="0"/>
              <a:t>Pomaže da se računar drži urednim</a:t>
            </a:r>
          </a:p>
          <a:p>
            <a:r>
              <a:rPr lang="hr-HR" dirty="0"/>
              <a:t>Olakšava pronalazak dokumenata i slika</a:t>
            </a:r>
          </a:p>
          <a:p>
            <a:r>
              <a:rPr lang="hr-HR" dirty="0"/>
              <a:t>Svaki folder može sadržavati </a:t>
            </a:r>
            <a:r>
              <a:rPr lang="hr-HR" dirty="0" err="1"/>
              <a:t>podfoldere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474611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AE52C-3C53-B2DE-CF37-6969A1ED2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033AF44-05E8-7204-81EB-1E219D64C5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CC52DB30-B097-5CC0-A556-CC53368A61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23" name="TekstniOkvir 22">
            <a:extLst>
              <a:ext uri="{FF2B5EF4-FFF2-40B4-BE49-F238E27FC236}">
                <a16:creationId xmlns:a16="http://schemas.microsoft.com/office/drawing/2014/main" id="{417B452B-96F9-07F4-A056-DE9934872D06}"/>
              </a:ext>
            </a:extLst>
          </p:cNvPr>
          <p:cNvSpPr txBox="1"/>
          <p:nvPr/>
        </p:nvSpPr>
        <p:spPr>
          <a:xfrm>
            <a:off x="-1438223" y="-5314606"/>
            <a:ext cx="72374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7200" spc="1000" dirty="0">
                <a:latin typeface="Felix Titling" panose="04060505060202020A04" pitchFamily="82" charset="0"/>
              </a:rPr>
              <a:t>Kreiranje</a:t>
            </a:r>
          </a:p>
        </p:txBody>
      </p:sp>
      <p:sp>
        <p:nvSpPr>
          <p:cNvPr id="27" name="TekstniOkvir 26">
            <a:extLst>
              <a:ext uri="{FF2B5EF4-FFF2-40B4-BE49-F238E27FC236}">
                <a16:creationId xmlns:a16="http://schemas.microsoft.com/office/drawing/2014/main" id="{E3C30F94-E173-A490-0D61-250860263BBA}"/>
              </a:ext>
            </a:extLst>
          </p:cNvPr>
          <p:cNvSpPr txBox="1"/>
          <p:nvPr/>
        </p:nvSpPr>
        <p:spPr>
          <a:xfrm>
            <a:off x="6392776" y="-5203926"/>
            <a:ext cx="5627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7200" spc="1000" dirty="0">
                <a:latin typeface="Felix Titling" panose="04060505060202020A04" pitchFamily="82" charset="0"/>
              </a:rPr>
              <a:t>FOLDERA</a:t>
            </a:r>
          </a:p>
        </p:txBody>
      </p:sp>
      <p:pic>
        <p:nvPicPr>
          <p:cNvPr id="33" name="Slika 32">
            <a:extLst>
              <a:ext uri="{FF2B5EF4-FFF2-40B4-BE49-F238E27FC236}">
                <a16:creationId xmlns:a16="http://schemas.microsoft.com/office/drawing/2014/main" id="{5457389E-D863-D843-3174-3ED2EE50F6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0629"/>
                    </a14:imgEffect>
                    <a14:imgEffect>
                      <a14:saturation sat="11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13235" y="-3510890"/>
            <a:ext cx="3037235" cy="2745409"/>
          </a:xfrm>
          <a:prstGeom prst="rect">
            <a:avLst/>
          </a:prstGeom>
        </p:spPr>
      </p:pic>
      <p:sp>
        <p:nvSpPr>
          <p:cNvPr id="35" name="TekstniOkvir 34">
            <a:extLst>
              <a:ext uri="{FF2B5EF4-FFF2-40B4-BE49-F238E27FC236}">
                <a16:creationId xmlns:a16="http://schemas.microsoft.com/office/drawing/2014/main" id="{759EA70B-F9E8-1C5F-E224-F204BB50D30D}"/>
              </a:ext>
            </a:extLst>
          </p:cNvPr>
          <p:cNvSpPr txBox="1"/>
          <p:nvPr/>
        </p:nvSpPr>
        <p:spPr>
          <a:xfrm>
            <a:off x="8148994" y="-2045090"/>
            <a:ext cx="50380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4000" dirty="0">
                <a:latin typeface="Felix Titling" panose="04060505060202020A04" pitchFamily="82" charset="0"/>
              </a:rPr>
              <a:t>NURUDIN ZAHIROVIC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0420ED0F-7BD9-82A0-247A-EB39B42C1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23111"/>
            <a:ext cx="12191999" cy="6981111"/>
          </a:xfrm>
          <a:prstGeom prst="rect">
            <a:avLst/>
          </a:prstGeom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3D7A097C-CBB1-B19C-AB38-4736FFE2F2AC}"/>
              </a:ext>
            </a:extLst>
          </p:cNvPr>
          <p:cNvSpPr txBox="1"/>
          <p:nvPr/>
        </p:nvSpPr>
        <p:spPr>
          <a:xfrm>
            <a:off x="176463" y="343086"/>
            <a:ext cx="5919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4800" dirty="0">
                <a:solidFill>
                  <a:schemeClr val="bg1"/>
                </a:solidFill>
                <a:latin typeface="Felix Titling" panose="04060505060202020A04" pitchFamily="82" charset="0"/>
              </a:rPr>
              <a:t>UVOD U FOLDERE</a:t>
            </a: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744257AB-35BC-EECF-8FD3-B2D6903BE4DC}"/>
              </a:ext>
            </a:extLst>
          </p:cNvPr>
          <p:cNvSpPr txBox="1"/>
          <p:nvPr/>
        </p:nvSpPr>
        <p:spPr>
          <a:xfrm>
            <a:off x="368966" y="1382223"/>
            <a:ext cx="108605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Folder (mapa) služi za čuvanje i organizaciju </a:t>
            </a:r>
            <a:r>
              <a:rPr lang="hr-HR" sz="3600" dirty="0" err="1">
                <a:solidFill>
                  <a:schemeClr val="bg1"/>
                </a:solidFill>
              </a:rPr>
              <a:t>fajlova</a:t>
            </a:r>
            <a:endParaRPr lang="hr-HR" sz="36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Pomaže da se računar drži urednim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Olakšava pronalazak dokumenata i slika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Svaki folder može sadržavati </a:t>
            </a:r>
            <a:r>
              <a:rPr lang="hr-HR" sz="3600" dirty="0" err="1">
                <a:solidFill>
                  <a:schemeClr val="bg1"/>
                </a:solidFill>
              </a:rPr>
              <a:t>podfoldere</a:t>
            </a:r>
            <a:endParaRPr lang="hr-HR" sz="3600" dirty="0">
              <a:solidFill>
                <a:schemeClr val="bg1"/>
              </a:solidFill>
            </a:endParaRP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90067A73-9837-2418-630E-D681FCF7D3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2776" y="3718103"/>
            <a:ext cx="4555961" cy="3029629"/>
          </a:xfrm>
          <a:prstGeom prst="rect">
            <a:avLst/>
          </a:prstGeom>
        </p:spPr>
      </p:pic>
      <p:sp>
        <p:nvSpPr>
          <p:cNvPr id="9" name="TekstniOkvir 8">
            <a:extLst>
              <a:ext uri="{FF2B5EF4-FFF2-40B4-BE49-F238E27FC236}">
                <a16:creationId xmlns:a16="http://schemas.microsoft.com/office/drawing/2014/main" id="{AC19ACBD-E70C-2877-308F-FD4BC85D75A2}"/>
              </a:ext>
            </a:extLst>
          </p:cNvPr>
          <p:cNvSpPr txBox="1"/>
          <p:nvPr/>
        </p:nvSpPr>
        <p:spPr>
          <a:xfrm>
            <a:off x="13539536" y="573918"/>
            <a:ext cx="754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/>
              <a:t>KAKO KREIRATI FOLDER</a:t>
            </a: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EC8BE2B0-6630-FF10-629B-85EEB8A1CC76}"/>
              </a:ext>
            </a:extLst>
          </p:cNvPr>
          <p:cNvSpPr txBox="1"/>
          <p:nvPr/>
        </p:nvSpPr>
        <p:spPr>
          <a:xfrm>
            <a:off x="13347033" y="1387766"/>
            <a:ext cx="114871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/>
              <a:t>Desni klik na radnoj površini ili unutar drugog foldera</a:t>
            </a:r>
          </a:p>
          <a:p>
            <a:r>
              <a:rPr lang="hr-HR" dirty="0"/>
              <a:t>Izabrati opciju NEW-FOLDER</a:t>
            </a:r>
          </a:p>
          <a:p>
            <a:r>
              <a:rPr lang="hr-HR" dirty="0"/>
              <a:t>Unijeti naziv foldera i pritisnuti ENTER</a:t>
            </a:r>
          </a:p>
          <a:p>
            <a:r>
              <a:rPr lang="hr-HR" dirty="0"/>
              <a:t>Novi folder je spreman za upotrebu</a:t>
            </a:r>
          </a:p>
        </p:txBody>
      </p:sp>
      <p:pic>
        <p:nvPicPr>
          <p:cNvPr id="12" name="Slika 11">
            <a:extLst>
              <a:ext uri="{FF2B5EF4-FFF2-40B4-BE49-F238E27FC236}">
                <a16:creationId xmlns:a16="http://schemas.microsoft.com/office/drawing/2014/main" id="{3C95637A-3AB0-9848-6E71-BA060A5B99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69183" y="3032611"/>
            <a:ext cx="5084505" cy="343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19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Slika 48">
            <a:extLst>
              <a:ext uri="{FF2B5EF4-FFF2-40B4-BE49-F238E27FC236}">
                <a16:creationId xmlns:a16="http://schemas.microsoft.com/office/drawing/2014/main" id="{8630F326-0C5D-FCF9-95B5-1C031E6E2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07644" y="-50554"/>
            <a:ext cx="10295223" cy="6858000"/>
          </a:xfrm>
          <a:prstGeom prst="rect">
            <a:avLst/>
          </a:prstGeom>
        </p:spPr>
      </p:pic>
      <p:pic>
        <p:nvPicPr>
          <p:cNvPr id="2" name="Slika 1">
            <a:extLst>
              <a:ext uri="{FF2B5EF4-FFF2-40B4-BE49-F238E27FC236}">
                <a16:creationId xmlns:a16="http://schemas.microsoft.com/office/drawing/2014/main" id="{D2F3188B-BC5D-449B-E56E-627705068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7661" y="-50555"/>
            <a:ext cx="12302521" cy="6920169"/>
          </a:xfrm>
          <a:prstGeom prst="rect">
            <a:avLst/>
          </a:prstGeom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7F81949B-7A03-9290-70DA-983DF621B5FD}"/>
              </a:ext>
            </a:extLst>
          </p:cNvPr>
          <p:cNvSpPr txBox="1"/>
          <p:nvPr/>
        </p:nvSpPr>
        <p:spPr>
          <a:xfrm>
            <a:off x="473265" y="-50555"/>
            <a:ext cx="8723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5400" dirty="0">
                <a:solidFill>
                  <a:schemeClr val="bg1"/>
                </a:solidFill>
                <a:latin typeface="Felix Titling" panose="04060505060202020A04" pitchFamily="82" charset="0"/>
              </a:rPr>
              <a:t>KAKO KREIRATI FOLDER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CD02C23E-7D5C-CA63-FE9D-3984653DF60E}"/>
              </a:ext>
            </a:extLst>
          </p:cNvPr>
          <p:cNvSpPr txBox="1"/>
          <p:nvPr/>
        </p:nvSpPr>
        <p:spPr>
          <a:xfrm>
            <a:off x="243903" y="1163681"/>
            <a:ext cx="9182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Desni klik na radnoj površini ili unutar drugog foldera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Izabrati opciju NEW-FOLDER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Novi folder je spreman za upotrebu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Unijeti naziv foldera i pritisnuti ENTER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FCE08D66-6AF2-42C0-D7E7-F6925948B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978" y="3227240"/>
            <a:ext cx="4768369" cy="3081136"/>
          </a:xfrm>
          <a:prstGeom prst="rect">
            <a:avLst/>
          </a:prstGeom>
        </p:spPr>
      </p:pic>
      <p:sp>
        <p:nvSpPr>
          <p:cNvPr id="29" name="TekstniOkvir 28">
            <a:extLst>
              <a:ext uri="{FF2B5EF4-FFF2-40B4-BE49-F238E27FC236}">
                <a16:creationId xmlns:a16="http://schemas.microsoft.com/office/drawing/2014/main" id="{545F6F8B-BD7F-AFB1-E0B2-432331493B03}"/>
              </a:ext>
            </a:extLst>
          </p:cNvPr>
          <p:cNvSpPr txBox="1"/>
          <p:nvPr/>
        </p:nvSpPr>
        <p:spPr>
          <a:xfrm>
            <a:off x="15307755" y="-5275"/>
            <a:ext cx="588898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6600" dirty="0">
                <a:solidFill>
                  <a:schemeClr val="bg1"/>
                </a:solidFill>
              </a:rPr>
              <a:t>VRSTE FAJLOVA</a:t>
            </a:r>
          </a:p>
        </p:txBody>
      </p:sp>
      <p:pic>
        <p:nvPicPr>
          <p:cNvPr id="32" name="Slika 31">
            <a:extLst>
              <a:ext uri="{FF2B5EF4-FFF2-40B4-BE49-F238E27FC236}">
                <a16:creationId xmlns:a16="http://schemas.microsoft.com/office/drawing/2014/main" id="{F08C44AA-A02F-0A50-D5ED-A5248DB95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55255" y="3227239"/>
            <a:ext cx="4029808" cy="3284844"/>
          </a:xfrm>
          <a:prstGeom prst="rect">
            <a:avLst/>
          </a:prstGeom>
        </p:spPr>
      </p:pic>
      <p:sp>
        <p:nvSpPr>
          <p:cNvPr id="33" name="Elipsa 32">
            <a:extLst>
              <a:ext uri="{FF2B5EF4-FFF2-40B4-BE49-F238E27FC236}">
                <a16:creationId xmlns:a16="http://schemas.microsoft.com/office/drawing/2014/main" id="{CC7A4088-C3FF-0F9F-304E-4947FA4F7B9B}"/>
              </a:ext>
            </a:extLst>
          </p:cNvPr>
          <p:cNvSpPr/>
          <p:nvPr/>
        </p:nvSpPr>
        <p:spPr>
          <a:xfrm>
            <a:off x="3566160" y="847312"/>
            <a:ext cx="342900" cy="2996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35" name="Ravni poveznik 34">
            <a:extLst>
              <a:ext uri="{FF2B5EF4-FFF2-40B4-BE49-F238E27FC236}">
                <a16:creationId xmlns:a16="http://schemas.microsoft.com/office/drawing/2014/main" id="{05FA4967-32E8-6E31-AAC5-9D3E6F056AAB}"/>
              </a:ext>
            </a:extLst>
          </p:cNvPr>
          <p:cNvCxnSpPr>
            <a:cxnSpLocks/>
          </p:cNvCxnSpPr>
          <p:nvPr/>
        </p:nvCxnSpPr>
        <p:spPr>
          <a:xfrm flipV="1">
            <a:off x="3965940" y="889445"/>
            <a:ext cx="18558194" cy="203708"/>
          </a:xfrm>
          <a:prstGeom prst="line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avni poveznik 42">
            <a:extLst>
              <a:ext uri="{FF2B5EF4-FFF2-40B4-BE49-F238E27FC236}">
                <a16:creationId xmlns:a16="http://schemas.microsoft.com/office/drawing/2014/main" id="{C6C536CC-D625-9661-EFD7-F21F2DE78222}"/>
              </a:ext>
            </a:extLst>
          </p:cNvPr>
          <p:cNvCxnSpPr>
            <a:cxnSpLocks/>
            <a:stCxn id="33" idx="5"/>
            <a:endCxn id="33" idx="5"/>
          </p:cNvCxnSpPr>
          <p:nvPr/>
        </p:nvCxnSpPr>
        <p:spPr>
          <a:xfrm>
            <a:off x="3858843" y="110312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avni poveznik 45">
            <a:extLst>
              <a:ext uri="{FF2B5EF4-FFF2-40B4-BE49-F238E27FC236}">
                <a16:creationId xmlns:a16="http://schemas.microsoft.com/office/drawing/2014/main" id="{0F4E8A97-B128-739B-9D6A-ACAABCA5A5AE}"/>
              </a:ext>
            </a:extLst>
          </p:cNvPr>
          <p:cNvCxnSpPr/>
          <p:nvPr/>
        </p:nvCxnSpPr>
        <p:spPr>
          <a:xfrm>
            <a:off x="3909060" y="991299"/>
            <a:ext cx="201891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kstniOkvir 49">
            <a:extLst>
              <a:ext uri="{FF2B5EF4-FFF2-40B4-BE49-F238E27FC236}">
                <a16:creationId xmlns:a16="http://schemas.microsoft.com/office/drawing/2014/main" id="{19C6AD69-B01F-EA4C-2289-6A484ACC486E}"/>
              </a:ext>
            </a:extLst>
          </p:cNvPr>
          <p:cNvSpPr txBox="1"/>
          <p:nvPr/>
        </p:nvSpPr>
        <p:spPr>
          <a:xfrm>
            <a:off x="-4298429" y="1366897"/>
            <a:ext cx="421076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Tekstualni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Multimedijalni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Programski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Arhive</a:t>
            </a:r>
          </a:p>
        </p:txBody>
      </p:sp>
    </p:spTree>
    <p:extLst>
      <p:ext uri="{BB962C8B-B14F-4D97-AF65-F5344CB8AC3E}">
        <p14:creationId xmlns:p14="http://schemas.microsoft.com/office/powerpoint/2010/main" val="23487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F21E-988B-3D1F-0D9B-760513F2A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Slika 48">
            <a:extLst>
              <a:ext uri="{FF2B5EF4-FFF2-40B4-BE49-F238E27FC236}">
                <a16:creationId xmlns:a16="http://schemas.microsoft.com/office/drawing/2014/main" id="{B250DE65-E17E-C4E5-0585-50F8DAF0B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69940" y="23654"/>
            <a:ext cx="10295223" cy="6858000"/>
          </a:xfrm>
          <a:prstGeom prst="rect">
            <a:avLst/>
          </a:prstGeom>
        </p:spPr>
      </p:pic>
      <p:pic>
        <p:nvPicPr>
          <p:cNvPr id="2" name="Slika 1">
            <a:extLst>
              <a:ext uri="{FF2B5EF4-FFF2-40B4-BE49-F238E27FC236}">
                <a16:creationId xmlns:a16="http://schemas.microsoft.com/office/drawing/2014/main" id="{41766BB5-2405-ADC7-429D-6798C9B13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" y="-10556"/>
            <a:ext cx="12192000" cy="6858001"/>
          </a:xfrm>
          <a:prstGeom prst="rect">
            <a:avLst/>
          </a:prstGeom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E44F1164-EEF7-D10F-07EB-386769B33796}"/>
              </a:ext>
            </a:extLst>
          </p:cNvPr>
          <p:cNvSpPr txBox="1"/>
          <p:nvPr/>
        </p:nvSpPr>
        <p:spPr>
          <a:xfrm>
            <a:off x="13017631" y="-10556"/>
            <a:ext cx="8723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5400" dirty="0">
                <a:solidFill>
                  <a:schemeClr val="bg1"/>
                </a:solidFill>
                <a:latin typeface="Felix Titling" panose="04060505060202020A04" pitchFamily="82" charset="0"/>
              </a:rPr>
              <a:t>KAKO KREIRATI FOLDER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DC026590-2F62-D8AC-59E0-483DFB2C5C2B}"/>
              </a:ext>
            </a:extLst>
          </p:cNvPr>
          <p:cNvSpPr txBox="1"/>
          <p:nvPr/>
        </p:nvSpPr>
        <p:spPr>
          <a:xfrm>
            <a:off x="12355771" y="1250203"/>
            <a:ext cx="9182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Desni klik na radnoj površini ili unutar drugog foldera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Izabrati opciju NEW-FOLDER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Novi folder je spreman za upotrebu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Unijeti naziv foldera i pritisnuti ENTER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7CFFE05-1EAC-06C0-F77E-A55F7F016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6374" y="3530854"/>
            <a:ext cx="4768369" cy="3081136"/>
          </a:xfrm>
          <a:prstGeom prst="rect">
            <a:avLst/>
          </a:prstGeom>
        </p:spPr>
      </p:pic>
      <p:sp>
        <p:nvSpPr>
          <p:cNvPr id="29" name="TekstniOkvir 28">
            <a:extLst>
              <a:ext uri="{FF2B5EF4-FFF2-40B4-BE49-F238E27FC236}">
                <a16:creationId xmlns:a16="http://schemas.microsoft.com/office/drawing/2014/main" id="{CD6D4AD9-75DB-8DAA-4BAD-1F541A7B097B}"/>
              </a:ext>
            </a:extLst>
          </p:cNvPr>
          <p:cNvSpPr txBox="1"/>
          <p:nvPr/>
        </p:nvSpPr>
        <p:spPr>
          <a:xfrm>
            <a:off x="2060548" y="-134553"/>
            <a:ext cx="59244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6600" dirty="0">
                <a:solidFill>
                  <a:schemeClr val="bg1"/>
                </a:solidFill>
              </a:rPr>
              <a:t>VRSTE FAJLOVA</a:t>
            </a:r>
          </a:p>
        </p:txBody>
      </p:sp>
      <p:pic>
        <p:nvPicPr>
          <p:cNvPr id="32" name="Slika 31">
            <a:extLst>
              <a:ext uri="{FF2B5EF4-FFF2-40B4-BE49-F238E27FC236}">
                <a16:creationId xmlns:a16="http://schemas.microsoft.com/office/drawing/2014/main" id="{4286FC24-22FC-8575-AA1C-A076D1877F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047" y="3429000"/>
            <a:ext cx="4029808" cy="3284844"/>
          </a:xfrm>
          <a:prstGeom prst="rect">
            <a:avLst/>
          </a:prstGeom>
        </p:spPr>
      </p:pic>
      <p:sp>
        <p:nvSpPr>
          <p:cNvPr id="33" name="Elipsa 32">
            <a:extLst>
              <a:ext uri="{FF2B5EF4-FFF2-40B4-BE49-F238E27FC236}">
                <a16:creationId xmlns:a16="http://schemas.microsoft.com/office/drawing/2014/main" id="{8718056C-A15D-1481-CA7D-4B7DF06157B7}"/>
              </a:ext>
            </a:extLst>
          </p:cNvPr>
          <p:cNvSpPr/>
          <p:nvPr/>
        </p:nvSpPr>
        <p:spPr>
          <a:xfrm>
            <a:off x="3566160" y="847312"/>
            <a:ext cx="342900" cy="2996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35" name="Ravni poveznik 34">
            <a:extLst>
              <a:ext uri="{FF2B5EF4-FFF2-40B4-BE49-F238E27FC236}">
                <a16:creationId xmlns:a16="http://schemas.microsoft.com/office/drawing/2014/main" id="{7A188AEA-160A-A6D6-310D-F871C1354D30}"/>
              </a:ext>
            </a:extLst>
          </p:cNvPr>
          <p:cNvCxnSpPr>
            <a:cxnSpLocks/>
          </p:cNvCxnSpPr>
          <p:nvPr/>
        </p:nvCxnSpPr>
        <p:spPr>
          <a:xfrm flipV="1">
            <a:off x="3965940" y="889445"/>
            <a:ext cx="18558194" cy="203708"/>
          </a:xfrm>
          <a:prstGeom prst="line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avni poveznik 42">
            <a:extLst>
              <a:ext uri="{FF2B5EF4-FFF2-40B4-BE49-F238E27FC236}">
                <a16:creationId xmlns:a16="http://schemas.microsoft.com/office/drawing/2014/main" id="{330EF093-D29C-F203-41FC-DADA2415FFA7}"/>
              </a:ext>
            </a:extLst>
          </p:cNvPr>
          <p:cNvCxnSpPr>
            <a:cxnSpLocks/>
            <a:stCxn id="33" idx="5"/>
            <a:endCxn id="33" idx="5"/>
          </p:cNvCxnSpPr>
          <p:nvPr/>
        </p:nvCxnSpPr>
        <p:spPr>
          <a:xfrm>
            <a:off x="3858843" y="110312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avni poveznik 45">
            <a:extLst>
              <a:ext uri="{FF2B5EF4-FFF2-40B4-BE49-F238E27FC236}">
                <a16:creationId xmlns:a16="http://schemas.microsoft.com/office/drawing/2014/main" id="{6B4BAA67-7256-2164-9F67-6112183308FA}"/>
              </a:ext>
            </a:extLst>
          </p:cNvPr>
          <p:cNvCxnSpPr/>
          <p:nvPr/>
        </p:nvCxnSpPr>
        <p:spPr>
          <a:xfrm>
            <a:off x="3909060" y="991299"/>
            <a:ext cx="201891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kstniOkvir 49">
            <a:extLst>
              <a:ext uri="{FF2B5EF4-FFF2-40B4-BE49-F238E27FC236}">
                <a16:creationId xmlns:a16="http://schemas.microsoft.com/office/drawing/2014/main" id="{33B63895-F7A8-30CA-EDB4-E3B3433C0F29}"/>
              </a:ext>
            </a:extLst>
          </p:cNvPr>
          <p:cNvSpPr txBox="1"/>
          <p:nvPr/>
        </p:nvSpPr>
        <p:spPr>
          <a:xfrm>
            <a:off x="703653" y="1366897"/>
            <a:ext cx="421076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Tekstualni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Multimedijalni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Programski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Arhive</a:t>
            </a:r>
          </a:p>
        </p:txBody>
      </p:sp>
      <p:sp>
        <p:nvSpPr>
          <p:cNvPr id="6" name="Elipsa 5">
            <a:extLst>
              <a:ext uri="{FF2B5EF4-FFF2-40B4-BE49-F238E27FC236}">
                <a16:creationId xmlns:a16="http://schemas.microsoft.com/office/drawing/2014/main" id="{4A6ADFD8-6B97-676F-6204-795E1EDD03E0}"/>
              </a:ext>
            </a:extLst>
          </p:cNvPr>
          <p:cNvSpPr/>
          <p:nvPr/>
        </p:nvSpPr>
        <p:spPr>
          <a:xfrm>
            <a:off x="16328440" y="830069"/>
            <a:ext cx="595867" cy="3224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Elipsa 6">
            <a:extLst>
              <a:ext uri="{FF2B5EF4-FFF2-40B4-BE49-F238E27FC236}">
                <a16:creationId xmlns:a16="http://schemas.microsoft.com/office/drawing/2014/main" id="{7AF10CAA-996A-6313-C263-FDCCA87C3790}"/>
              </a:ext>
            </a:extLst>
          </p:cNvPr>
          <p:cNvSpPr/>
          <p:nvPr/>
        </p:nvSpPr>
        <p:spPr>
          <a:xfrm>
            <a:off x="24098250" y="889445"/>
            <a:ext cx="342900" cy="2575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3" name="Ravni poveznik 12">
            <a:extLst>
              <a:ext uri="{FF2B5EF4-FFF2-40B4-BE49-F238E27FC236}">
                <a16:creationId xmlns:a16="http://schemas.microsoft.com/office/drawing/2014/main" id="{249F1453-0AFB-769D-51CD-AA157ACCB2F9}"/>
              </a:ext>
            </a:extLst>
          </p:cNvPr>
          <p:cNvCxnSpPr/>
          <p:nvPr/>
        </p:nvCxnSpPr>
        <p:spPr>
          <a:xfrm flipH="1">
            <a:off x="0" y="991299"/>
            <a:ext cx="3566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782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C84C6-32B8-63BC-3468-5B72CED4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Slika 48">
            <a:extLst>
              <a:ext uri="{FF2B5EF4-FFF2-40B4-BE49-F238E27FC236}">
                <a16:creationId xmlns:a16="http://schemas.microsoft.com/office/drawing/2014/main" id="{D9F82CCE-F149-6978-5BB0-45E9EC9A7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69940" y="23654"/>
            <a:ext cx="10295223" cy="6858000"/>
          </a:xfrm>
          <a:prstGeom prst="rect">
            <a:avLst/>
          </a:prstGeom>
        </p:spPr>
      </p:pic>
      <p:pic>
        <p:nvPicPr>
          <p:cNvPr id="2" name="Slika 1">
            <a:extLst>
              <a:ext uri="{FF2B5EF4-FFF2-40B4-BE49-F238E27FC236}">
                <a16:creationId xmlns:a16="http://schemas.microsoft.com/office/drawing/2014/main" id="{49321FB1-4474-6B39-AF3D-AB7C2FDF0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" y="-23655"/>
            <a:ext cx="12192000" cy="6858001"/>
          </a:xfrm>
          <a:prstGeom prst="rect">
            <a:avLst/>
          </a:prstGeom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7017FF7B-F48F-8995-A6C0-257A91AE2751}"/>
              </a:ext>
            </a:extLst>
          </p:cNvPr>
          <p:cNvSpPr txBox="1"/>
          <p:nvPr/>
        </p:nvSpPr>
        <p:spPr>
          <a:xfrm>
            <a:off x="13017631" y="-10556"/>
            <a:ext cx="8723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5400" dirty="0">
                <a:solidFill>
                  <a:schemeClr val="bg1"/>
                </a:solidFill>
                <a:latin typeface="Felix Titling" panose="04060505060202020A04" pitchFamily="82" charset="0"/>
              </a:rPr>
              <a:t>KAKO KREIRATI FOLDER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8D04A2B8-1A3A-AF08-0E7E-120925BCC394}"/>
              </a:ext>
            </a:extLst>
          </p:cNvPr>
          <p:cNvSpPr txBox="1"/>
          <p:nvPr/>
        </p:nvSpPr>
        <p:spPr>
          <a:xfrm>
            <a:off x="12355771" y="1250203"/>
            <a:ext cx="9182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Desni klik na radnoj površini ili unutar drugog foldera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Izabrati opciju NEW-FOLDER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Novi folder je spreman za upotrebu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Unijeti naziv foldera i pritisnuti ENTER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DA36BC1F-246C-77EA-CA36-17DCFCEED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6374" y="3530854"/>
            <a:ext cx="4768369" cy="3081136"/>
          </a:xfrm>
          <a:prstGeom prst="rect">
            <a:avLst/>
          </a:prstGeom>
        </p:spPr>
      </p:pic>
      <p:sp>
        <p:nvSpPr>
          <p:cNvPr id="29" name="TekstniOkvir 28">
            <a:extLst>
              <a:ext uri="{FF2B5EF4-FFF2-40B4-BE49-F238E27FC236}">
                <a16:creationId xmlns:a16="http://schemas.microsoft.com/office/drawing/2014/main" id="{8F1F0C1B-082C-29FB-145A-E67296E7A5BE}"/>
              </a:ext>
            </a:extLst>
          </p:cNvPr>
          <p:cNvSpPr txBox="1"/>
          <p:nvPr/>
        </p:nvSpPr>
        <p:spPr>
          <a:xfrm>
            <a:off x="1783080" y="-2981144"/>
            <a:ext cx="59244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6600" dirty="0">
                <a:solidFill>
                  <a:schemeClr val="bg1"/>
                </a:solidFill>
              </a:rPr>
              <a:t>VRSTE FAJLOVA</a:t>
            </a:r>
          </a:p>
        </p:txBody>
      </p:sp>
      <p:pic>
        <p:nvPicPr>
          <p:cNvPr id="32" name="Slika 31">
            <a:extLst>
              <a:ext uri="{FF2B5EF4-FFF2-40B4-BE49-F238E27FC236}">
                <a16:creationId xmlns:a16="http://schemas.microsoft.com/office/drawing/2014/main" id="{392B15D1-2C4A-923C-8C64-8A7BD08F2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856" y="-4470716"/>
            <a:ext cx="4029808" cy="3284844"/>
          </a:xfrm>
          <a:prstGeom prst="rect">
            <a:avLst/>
          </a:prstGeom>
        </p:spPr>
      </p:pic>
      <p:sp>
        <p:nvSpPr>
          <p:cNvPr id="33" name="Elipsa 32">
            <a:extLst>
              <a:ext uri="{FF2B5EF4-FFF2-40B4-BE49-F238E27FC236}">
                <a16:creationId xmlns:a16="http://schemas.microsoft.com/office/drawing/2014/main" id="{E387646E-7FD6-7873-AD8D-5A9DD59F3696}"/>
              </a:ext>
            </a:extLst>
          </p:cNvPr>
          <p:cNvSpPr/>
          <p:nvPr/>
        </p:nvSpPr>
        <p:spPr>
          <a:xfrm>
            <a:off x="3623040" y="-1409260"/>
            <a:ext cx="342900" cy="2996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35" name="Ravni poveznik 34">
            <a:extLst>
              <a:ext uri="{FF2B5EF4-FFF2-40B4-BE49-F238E27FC236}">
                <a16:creationId xmlns:a16="http://schemas.microsoft.com/office/drawing/2014/main" id="{498CB7E6-FE76-3CDA-F829-9EB1970332AB}"/>
              </a:ext>
            </a:extLst>
          </p:cNvPr>
          <p:cNvCxnSpPr>
            <a:cxnSpLocks/>
          </p:cNvCxnSpPr>
          <p:nvPr/>
        </p:nvCxnSpPr>
        <p:spPr>
          <a:xfrm flipV="1">
            <a:off x="3076674" y="2832658"/>
            <a:ext cx="18558194" cy="203708"/>
          </a:xfrm>
          <a:prstGeom prst="line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avni poveznik 42">
            <a:extLst>
              <a:ext uri="{FF2B5EF4-FFF2-40B4-BE49-F238E27FC236}">
                <a16:creationId xmlns:a16="http://schemas.microsoft.com/office/drawing/2014/main" id="{90CA672B-1C65-3541-1149-54A3D8C9810F}"/>
              </a:ext>
            </a:extLst>
          </p:cNvPr>
          <p:cNvCxnSpPr>
            <a:cxnSpLocks/>
            <a:stCxn id="33" idx="5"/>
            <a:endCxn id="33" idx="5"/>
          </p:cNvCxnSpPr>
          <p:nvPr/>
        </p:nvCxnSpPr>
        <p:spPr>
          <a:xfrm>
            <a:off x="3915723" y="-115345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avni poveznik 45">
            <a:extLst>
              <a:ext uri="{FF2B5EF4-FFF2-40B4-BE49-F238E27FC236}">
                <a16:creationId xmlns:a16="http://schemas.microsoft.com/office/drawing/2014/main" id="{7407096C-4CD8-33C9-86C2-D40F17779B3C}"/>
              </a:ext>
            </a:extLst>
          </p:cNvPr>
          <p:cNvCxnSpPr/>
          <p:nvPr/>
        </p:nvCxnSpPr>
        <p:spPr>
          <a:xfrm>
            <a:off x="3965940" y="-1109561"/>
            <a:ext cx="201891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kstniOkvir 49">
            <a:extLst>
              <a:ext uri="{FF2B5EF4-FFF2-40B4-BE49-F238E27FC236}">
                <a16:creationId xmlns:a16="http://schemas.microsoft.com/office/drawing/2014/main" id="{97E8E461-DD93-6529-D172-44F22E128C2B}"/>
              </a:ext>
            </a:extLst>
          </p:cNvPr>
          <p:cNvSpPr txBox="1"/>
          <p:nvPr/>
        </p:nvSpPr>
        <p:spPr>
          <a:xfrm>
            <a:off x="534536" y="-2140613"/>
            <a:ext cx="421076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Tekstualni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Multimedijalni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Programski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Arhive</a:t>
            </a:r>
          </a:p>
        </p:txBody>
      </p:sp>
      <p:sp>
        <p:nvSpPr>
          <p:cNvPr id="6" name="Elipsa 5">
            <a:extLst>
              <a:ext uri="{FF2B5EF4-FFF2-40B4-BE49-F238E27FC236}">
                <a16:creationId xmlns:a16="http://schemas.microsoft.com/office/drawing/2014/main" id="{BB6EECF6-1A14-FDE3-B4F2-CBBA3DA3D6F1}"/>
              </a:ext>
            </a:extLst>
          </p:cNvPr>
          <p:cNvSpPr/>
          <p:nvPr/>
        </p:nvSpPr>
        <p:spPr>
          <a:xfrm>
            <a:off x="16328440" y="830069"/>
            <a:ext cx="595867" cy="3224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Elipsa 6">
            <a:extLst>
              <a:ext uri="{FF2B5EF4-FFF2-40B4-BE49-F238E27FC236}">
                <a16:creationId xmlns:a16="http://schemas.microsoft.com/office/drawing/2014/main" id="{CF12225C-02AA-FF08-AA4C-5D5A4C2D4C63}"/>
              </a:ext>
            </a:extLst>
          </p:cNvPr>
          <p:cNvSpPr/>
          <p:nvPr/>
        </p:nvSpPr>
        <p:spPr>
          <a:xfrm>
            <a:off x="24098250" y="889445"/>
            <a:ext cx="342900" cy="2575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3" name="Ravni poveznik 12">
            <a:extLst>
              <a:ext uri="{FF2B5EF4-FFF2-40B4-BE49-F238E27FC236}">
                <a16:creationId xmlns:a16="http://schemas.microsoft.com/office/drawing/2014/main" id="{792972FF-F967-A9FB-DC0C-30CA7162798A}"/>
              </a:ext>
            </a:extLst>
          </p:cNvPr>
          <p:cNvCxnSpPr/>
          <p:nvPr/>
        </p:nvCxnSpPr>
        <p:spPr>
          <a:xfrm flipH="1">
            <a:off x="-318052" y="-1222269"/>
            <a:ext cx="3566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kstniOkvir 9">
            <a:extLst>
              <a:ext uri="{FF2B5EF4-FFF2-40B4-BE49-F238E27FC236}">
                <a16:creationId xmlns:a16="http://schemas.microsoft.com/office/drawing/2014/main" id="{DA31AA1A-AE63-63AA-D345-0561E43A1A66}"/>
              </a:ext>
            </a:extLst>
          </p:cNvPr>
          <p:cNvSpPr txBox="1"/>
          <p:nvPr/>
        </p:nvSpPr>
        <p:spPr>
          <a:xfrm>
            <a:off x="534536" y="168109"/>
            <a:ext cx="106837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4800" dirty="0">
                <a:solidFill>
                  <a:schemeClr val="bg1"/>
                </a:solidFill>
                <a:latin typeface="Felix Titling" panose="04060505060202020A04" pitchFamily="82" charset="0"/>
              </a:rPr>
              <a:t>SAVJETI ZA ORGANIZACIJU FAJLOVA</a:t>
            </a: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3CF47117-CE2A-1E75-3ECE-CAD0D0C36288}"/>
              </a:ext>
            </a:extLst>
          </p:cNvPr>
          <p:cNvSpPr txBox="1"/>
          <p:nvPr/>
        </p:nvSpPr>
        <p:spPr>
          <a:xfrm>
            <a:off x="534536" y="1331843"/>
            <a:ext cx="790620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Kreiraj posebne  foldere za </a:t>
            </a:r>
            <a:r>
              <a:rPr lang="hr-HR" sz="2800" dirty="0" err="1">
                <a:solidFill>
                  <a:schemeClr val="bg1"/>
                </a:solidFill>
              </a:rPr>
              <a:t>raličite</a:t>
            </a:r>
            <a:r>
              <a:rPr lang="hr-HR" sz="2800" dirty="0">
                <a:solidFill>
                  <a:schemeClr val="bg1"/>
                </a:solidFill>
              </a:rPr>
              <a:t> vrste sadržaja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Imenuj </a:t>
            </a:r>
            <a:r>
              <a:rPr lang="hr-HR" sz="2800" dirty="0" err="1">
                <a:solidFill>
                  <a:schemeClr val="bg1"/>
                </a:solidFill>
              </a:rPr>
              <a:t>fajlove</a:t>
            </a:r>
            <a:r>
              <a:rPr lang="hr-HR" sz="2800" dirty="0">
                <a:solidFill>
                  <a:schemeClr val="bg1"/>
                </a:solidFill>
              </a:rPr>
              <a:t> jasno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Koristi datume u nazivima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Redovno briši nepotrebne </a:t>
            </a:r>
            <a:r>
              <a:rPr lang="hr-HR" sz="2800" dirty="0" err="1">
                <a:solidFill>
                  <a:schemeClr val="bg1"/>
                </a:solidFill>
              </a:rPr>
              <a:t>fajlove</a:t>
            </a:r>
            <a:r>
              <a:rPr lang="hr-HR" sz="2800" dirty="0">
                <a:solidFill>
                  <a:schemeClr val="bg1"/>
                </a:solidFill>
              </a:rPr>
              <a:t> i pravi backup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Koristi oblačno čuvanje</a:t>
            </a:r>
          </a:p>
        </p:txBody>
      </p:sp>
      <p:pic>
        <p:nvPicPr>
          <p:cNvPr id="12" name="Slika 11">
            <a:extLst>
              <a:ext uri="{FF2B5EF4-FFF2-40B4-BE49-F238E27FC236}">
                <a16:creationId xmlns:a16="http://schemas.microsoft.com/office/drawing/2014/main" id="{3332BBEA-CA39-BD9B-E190-38E8C51D2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702" y="3372339"/>
            <a:ext cx="4343079" cy="306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92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5542C-CA89-19B1-1DEF-B633EC789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Slika 48">
            <a:extLst>
              <a:ext uri="{FF2B5EF4-FFF2-40B4-BE49-F238E27FC236}">
                <a16:creationId xmlns:a16="http://schemas.microsoft.com/office/drawing/2014/main" id="{DA310A5E-66D1-8FCC-702A-E9F5A9CE9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69940" y="23654"/>
            <a:ext cx="10295223" cy="6858000"/>
          </a:xfrm>
          <a:prstGeom prst="rect">
            <a:avLst/>
          </a:prstGeom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72EA7433-97F2-9C1B-3A18-03A74CF880B3}"/>
              </a:ext>
            </a:extLst>
          </p:cNvPr>
          <p:cNvSpPr txBox="1"/>
          <p:nvPr/>
        </p:nvSpPr>
        <p:spPr>
          <a:xfrm>
            <a:off x="13017631" y="-10556"/>
            <a:ext cx="8723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5400" dirty="0">
                <a:solidFill>
                  <a:schemeClr val="bg1"/>
                </a:solidFill>
                <a:latin typeface="Felix Titling" panose="04060505060202020A04" pitchFamily="82" charset="0"/>
              </a:rPr>
              <a:t>KAKO KREIRATI FOLDER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BF9E07BD-394C-EF52-B239-EE744BA297DE}"/>
              </a:ext>
            </a:extLst>
          </p:cNvPr>
          <p:cNvSpPr txBox="1"/>
          <p:nvPr/>
        </p:nvSpPr>
        <p:spPr>
          <a:xfrm>
            <a:off x="12355771" y="1250203"/>
            <a:ext cx="9182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Desni klik na radnoj površini ili unutar drugog foldera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Izabrati opciju NEW-FOLDER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Novi folder je spreman za upotrebu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Unijeti naziv foldera i pritisnuti ENTER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761A8042-09E7-9673-AD00-B4AAE097B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6374" y="3530854"/>
            <a:ext cx="4768369" cy="3081136"/>
          </a:xfrm>
          <a:prstGeom prst="rect">
            <a:avLst/>
          </a:prstGeom>
        </p:spPr>
      </p:pic>
      <p:sp>
        <p:nvSpPr>
          <p:cNvPr id="29" name="TekstniOkvir 28">
            <a:extLst>
              <a:ext uri="{FF2B5EF4-FFF2-40B4-BE49-F238E27FC236}">
                <a16:creationId xmlns:a16="http://schemas.microsoft.com/office/drawing/2014/main" id="{AC654533-F5E3-BDEC-FE6A-184ADA9428E1}"/>
              </a:ext>
            </a:extLst>
          </p:cNvPr>
          <p:cNvSpPr txBox="1"/>
          <p:nvPr/>
        </p:nvSpPr>
        <p:spPr>
          <a:xfrm>
            <a:off x="1783080" y="-2981144"/>
            <a:ext cx="59244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6600" dirty="0">
                <a:solidFill>
                  <a:schemeClr val="bg1"/>
                </a:solidFill>
              </a:rPr>
              <a:t>VRSTE FAJLOVA</a:t>
            </a:r>
          </a:p>
        </p:txBody>
      </p:sp>
      <p:pic>
        <p:nvPicPr>
          <p:cNvPr id="32" name="Slika 31">
            <a:extLst>
              <a:ext uri="{FF2B5EF4-FFF2-40B4-BE49-F238E27FC236}">
                <a16:creationId xmlns:a16="http://schemas.microsoft.com/office/drawing/2014/main" id="{0B90F5C2-823B-0564-BF17-C4EAD6142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856" y="-4470716"/>
            <a:ext cx="4029808" cy="3284844"/>
          </a:xfrm>
          <a:prstGeom prst="rect">
            <a:avLst/>
          </a:prstGeom>
        </p:spPr>
      </p:pic>
      <p:sp>
        <p:nvSpPr>
          <p:cNvPr id="33" name="Elipsa 32">
            <a:extLst>
              <a:ext uri="{FF2B5EF4-FFF2-40B4-BE49-F238E27FC236}">
                <a16:creationId xmlns:a16="http://schemas.microsoft.com/office/drawing/2014/main" id="{B7E16665-D8D5-1555-8C99-46979886E8D1}"/>
              </a:ext>
            </a:extLst>
          </p:cNvPr>
          <p:cNvSpPr/>
          <p:nvPr/>
        </p:nvSpPr>
        <p:spPr>
          <a:xfrm>
            <a:off x="3623040" y="-1409260"/>
            <a:ext cx="342900" cy="2996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35" name="Ravni poveznik 34">
            <a:extLst>
              <a:ext uri="{FF2B5EF4-FFF2-40B4-BE49-F238E27FC236}">
                <a16:creationId xmlns:a16="http://schemas.microsoft.com/office/drawing/2014/main" id="{903FF5DA-EB80-DA02-FCE6-6378BAAE8922}"/>
              </a:ext>
            </a:extLst>
          </p:cNvPr>
          <p:cNvCxnSpPr>
            <a:cxnSpLocks/>
          </p:cNvCxnSpPr>
          <p:nvPr/>
        </p:nvCxnSpPr>
        <p:spPr>
          <a:xfrm flipV="1">
            <a:off x="3076674" y="2832658"/>
            <a:ext cx="18558194" cy="203708"/>
          </a:xfrm>
          <a:prstGeom prst="line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avni poveznik 42">
            <a:extLst>
              <a:ext uri="{FF2B5EF4-FFF2-40B4-BE49-F238E27FC236}">
                <a16:creationId xmlns:a16="http://schemas.microsoft.com/office/drawing/2014/main" id="{2702BDF3-ECE6-A331-9319-C60257FCD159}"/>
              </a:ext>
            </a:extLst>
          </p:cNvPr>
          <p:cNvCxnSpPr>
            <a:cxnSpLocks/>
            <a:stCxn id="33" idx="5"/>
            <a:endCxn id="33" idx="5"/>
          </p:cNvCxnSpPr>
          <p:nvPr/>
        </p:nvCxnSpPr>
        <p:spPr>
          <a:xfrm>
            <a:off x="3915723" y="-115345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avni poveznik 45">
            <a:extLst>
              <a:ext uri="{FF2B5EF4-FFF2-40B4-BE49-F238E27FC236}">
                <a16:creationId xmlns:a16="http://schemas.microsoft.com/office/drawing/2014/main" id="{291E879F-8EB4-98A9-DCB9-9F9C060CA504}"/>
              </a:ext>
            </a:extLst>
          </p:cNvPr>
          <p:cNvCxnSpPr/>
          <p:nvPr/>
        </p:nvCxnSpPr>
        <p:spPr>
          <a:xfrm>
            <a:off x="3965940" y="-1109561"/>
            <a:ext cx="201891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kstniOkvir 49">
            <a:extLst>
              <a:ext uri="{FF2B5EF4-FFF2-40B4-BE49-F238E27FC236}">
                <a16:creationId xmlns:a16="http://schemas.microsoft.com/office/drawing/2014/main" id="{66B7D0FC-69E6-80C8-F83B-64B55BFE3DDA}"/>
              </a:ext>
            </a:extLst>
          </p:cNvPr>
          <p:cNvSpPr txBox="1"/>
          <p:nvPr/>
        </p:nvSpPr>
        <p:spPr>
          <a:xfrm>
            <a:off x="534536" y="-2140613"/>
            <a:ext cx="421076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Tekstualni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Multimedijalni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Programski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Arhive</a:t>
            </a:r>
          </a:p>
        </p:txBody>
      </p:sp>
      <p:sp>
        <p:nvSpPr>
          <p:cNvPr id="6" name="Elipsa 5">
            <a:extLst>
              <a:ext uri="{FF2B5EF4-FFF2-40B4-BE49-F238E27FC236}">
                <a16:creationId xmlns:a16="http://schemas.microsoft.com/office/drawing/2014/main" id="{AC700010-2702-ABAA-AB1A-A7D4869A8A80}"/>
              </a:ext>
            </a:extLst>
          </p:cNvPr>
          <p:cNvSpPr/>
          <p:nvPr/>
        </p:nvSpPr>
        <p:spPr>
          <a:xfrm>
            <a:off x="16328440" y="830069"/>
            <a:ext cx="595867" cy="3224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Elipsa 6">
            <a:extLst>
              <a:ext uri="{FF2B5EF4-FFF2-40B4-BE49-F238E27FC236}">
                <a16:creationId xmlns:a16="http://schemas.microsoft.com/office/drawing/2014/main" id="{DEE084B5-33E2-C4B4-5362-BB3F78B941AD}"/>
              </a:ext>
            </a:extLst>
          </p:cNvPr>
          <p:cNvSpPr/>
          <p:nvPr/>
        </p:nvSpPr>
        <p:spPr>
          <a:xfrm>
            <a:off x="24098250" y="889445"/>
            <a:ext cx="342900" cy="2575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3" name="Ravni poveznik 12">
            <a:extLst>
              <a:ext uri="{FF2B5EF4-FFF2-40B4-BE49-F238E27FC236}">
                <a16:creationId xmlns:a16="http://schemas.microsoft.com/office/drawing/2014/main" id="{5E6CE1E9-064C-7C2E-2691-F176EB5516A0}"/>
              </a:ext>
            </a:extLst>
          </p:cNvPr>
          <p:cNvCxnSpPr/>
          <p:nvPr/>
        </p:nvCxnSpPr>
        <p:spPr>
          <a:xfrm flipH="1">
            <a:off x="-318052" y="-1222269"/>
            <a:ext cx="3566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kstniOkvir 9">
            <a:extLst>
              <a:ext uri="{FF2B5EF4-FFF2-40B4-BE49-F238E27FC236}">
                <a16:creationId xmlns:a16="http://schemas.microsoft.com/office/drawing/2014/main" id="{09F82F80-A92B-E094-D7F1-E2A6547AE8CE}"/>
              </a:ext>
            </a:extLst>
          </p:cNvPr>
          <p:cNvSpPr txBox="1"/>
          <p:nvPr/>
        </p:nvSpPr>
        <p:spPr>
          <a:xfrm>
            <a:off x="452265" y="-4012195"/>
            <a:ext cx="106837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4800" dirty="0">
                <a:solidFill>
                  <a:schemeClr val="bg1"/>
                </a:solidFill>
                <a:latin typeface="Felix Titling" panose="04060505060202020A04" pitchFamily="82" charset="0"/>
              </a:rPr>
              <a:t>SAVJETI ZA ORGANIZACIJU FAJLOVA</a:t>
            </a: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D8ED26EC-FAA3-8B69-2C88-584936C3759C}"/>
              </a:ext>
            </a:extLst>
          </p:cNvPr>
          <p:cNvSpPr txBox="1"/>
          <p:nvPr/>
        </p:nvSpPr>
        <p:spPr>
          <a:xfrm>
            <a:off x="-2243044" y="-4067050"/>
            <a:ext cx="790620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Kreiraj posebne  foldere za </a:t>
            </a:r>
            <a:r>
              <a:rPr lang="hr-HR" sz="2800" dirty="0" err="1">
                <a:solidFill>
                  <a:schemeClr val="bg1"/>
                </a:solidFill>
              </a:rPr>
              <a:t>raličite</a:t>
            </a:r>
            <a:r>
              <a:rPr lang="hr-HR" sz="2800" dirty="0">
                <a:solidFill>
                  <a:schemeClr val="bg1"/>
                </a:solidFill>
              </a:rPr>
              <a:t> vrste sadržaja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Imenuj </a:t>
            </a:r>
            <a:r>
              <a:rPr lang="hr-HR" sz="2800" dirty="0" err="1">
                <a:solidFill>
                  <a:schemeClr val="bg1"/>
                </a:solidFill>
              </a:rPr>
              <a:t>fajlove</a:t>
            </a:r>
            <a:r>
              <a:rPr lang="hr-HR" sz="2800" dirty="0">
                <a:solidFill>
                  <a:schemeClr val="bg1"/>
                </a:solidFill>
              </a:rPr>
              <a:t> jasno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Koristi datume u nazivima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Redovno briši nepotrebne </a:t>
            </a:r>
            <a:r>
              <a:rPr lang="hr-HR" sz="2800" dirty="0" err="1">
                <a:solidFill>
                  <a:schemeClr val="bg1"/>
                </a:solidFill>
              </a:rPr>
              <a:t>fajlove</a:t>
            </a:r>
            <a:r>
              <a:rPr lang="hr-HR" sz="2800" dirty="0">
                <a:solidFill>
                  <a:schemeClr val="bg1"/>
                </a:solidFill>
              </a:rPr>
              <a:t> i pravi backup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Koristi oblačno čuvanje</a:t>
            </a:r>
          </a:p>
        </p:txBody>
      </p:sp>
      <p:pic>
        <p:nvPicPr>
          <p:cNvPr id="12" name="Slika 11">
            <a:extLst>
              <a:ext uri="{FF2B5EF4-FFF2-40B4-BE49-F238E27FC236}">
                <a16:creationId xmlns:a16="http://schemas.microsoft.com/office/drawing/2014/main" id="{D01B52DB-9277-473A-F83D-57088A9FDC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3764" y="-4752567"/>
            <a:ext cx="4343079" cy="3062586"/>
          </a:xfrm>
          <a:prstGeom prst="rect">
            <a:avLst/>
          </a:prstGeom>
        </p:spPr>
      </p:pic>
      <p:sp>
        <p:nvSpPr>
          <p:cNvPr id="8" name="TekstniOkvir 7">
            <a:extLst>
              <a:ext uri="{FF2B5EF4-FFF2-40B4-BE49-F238E27FC236}">
                <a16:creationId xmlns:a16="http://schemas.microsoft.com/office/drawing/2014/main" id="{2DB4F314-E5F4-6512-6994-67CE07539F59}"/>
              </a:ext>
            </a:extLst>
          </p:cNvPr>
          <p:cNvSpPr txBox="1"/>
          <p:nvPr/>
        </p:nvSpPr>
        <p:spPr>
          <a:xfrm flipH="1">
            <a:off x="103825" y="114136"/>
            <a:ext cx="106837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5400" dirty="0">
                <a:solidFill>
                  <a:schemeClr val="bg1"/>
                </a:solidFill>
                <a:latin typeface="Felix Titling" panose="04060505060202020A04" pitchFamily="82" charset="0"/>
              </a:rPr>
              <a:t>MANIPULISANJE FOLDERIMA I FAJLOVMA</a:t>
            </a:r>
          </a:p>
        </p:txBody>
      </p:sp>
      <p:pic>
        <p:nvPicPr>
          <p:cNvPr id="1032" name="Picture 8" descr="Black background Images - Free Download on Freepik">
            <a:extLst>
              <a:ext uri="{FF2B5EF4-FFF2-40B4-BE49-F238E27FC236}">
                <a16:creationId xmlns:a16="http://schemas.microsoft.com/office/drawing/2014/main" id="{B8517EC0-FFA3-1D86-6A8D-73DE78911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8053" y="-171963"/>
            <a:ext cx="12611527" cy="70536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kstniOkvir 1">
            <a:extLst>
              <a:ext uri="{FF2B5EF4-FFF2-40B4-BE49-F238E27FC236}">
                <a16:creationId xmlns:a16="http://schemas.microsoft.com/office/drawing/2014/main" id="{EA6AAAF1-903D-D95D-63F3-6998B58E55CA}"/>
              </a:ext>
            </a:extLst>
          </p:cNvPr>
          <p:cNvSpPr txBox="1"/>
          <p:nvPr/>
        </p:nvSpPr>
        <p:spPr>
          <a:xfrm>
            <a:off x="346384" y="201467"/>
            <a:ext cx="9894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5400" dirty="0">
                <a:solidFill>
                  <a:schemeClr val="bg1"/>
                </a:solidFill>
                <a:latin typeface="Felix Titling" panose="04060505060202020A04" pitchFamily="82" charset="0"/>
              </a:rPr>
              <a:t>MANIPULISANJE FAJLOVIMA</a:t>
            </a:r>
          </a:p>
        </p:txBody>
      </p:sp>
      <p:sp>
        <p:nvSpPr>
          <p:cNvPr id="9" name="TekstniOkvir 8">
            <a:extLst>
              <a:ext uri="{FF2B5EF4-FFF2-40B4-BE49-F238E27FC236}">
                <a16:creationId xmlns:a16="http://schemas.microsoft.com/office/drawing/2014/main" id="{32EBA325-F0A1-8AE8-EB2E-EC38B6160899}"/>
              </a:ext>
            </a:extLst>
          </p:cNvPr>
          <p:cNvSpPr txBox="1"/>
          <p:nvPr/>
        </p:nvSpPr>
        <p:spPr>
          <a:xfrm>
            <a:off x="346384" y="1124797"/>
            <a:ext cx="9894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hr-HR" sz="4000" dirty="0" err="1">
                <a:solidFill>
                  <a:schemeClr val="bg1"/>
                </a:solidFill>
              </a:rPr>
              <a:t>Manipulisanje</a:t>
            </a:r>
            <a:r>
              <a:rPr lang="hr-HR" sz="4000" dirty="0">
                <a:solidFill>
                  <a:schemeClr val="bg1"/>
                </a:solidFill>
              </a:rPr>
              <a:t> </a:t>
            </a:r>
            <a:r>
              <a:rPr lang="hr-HR" sz="4000" dirty="0" err="1">
                <a:solidFill>
                  <a:schemeClr val="bg1"/>
                </a:solidFill>
              </a:rPr>
              <a:t>fajlovima</a:t>
            </a:r>
            <a:r>
              <a:rPr lang="hr-HR" sz="4000" dirty="0">
                <a:solidFill>
                  <a:schemeClr val="bg1"/>
                </a:solidFill>
              </a:rPr>
              <a:t> nam </a:t>
            </a:r>
            <a:r>
              <a:rPr lang="hr-HR" sz="4000" dirty="0" err="1">
                <a:solidFill>
                  <a:schemeClr val="bg1"/>
                </a:solidFill>
              </a:rPr>
              <a:t>omogucava</a:t>
            </a:r>
            <a:r>
              <a:rPr lang="hr-HR" sz="4000" dirty="0">
                <a:solidFill>
                  <a:schemeClr val="bg1"/>
                </a:solidFill>
              </a:rPr>
              <a:t> da </a:t>
            </a:r>
            <a:r>
              <a:rPr lang="hr-HR" sz="4000" dirty="0" err="1">
                <a:solidFill>
                  <a:schemeClr val="bg1"/>
                </a:solidFill>
              </a:rPr>
              <a:t>fajlove</a:t>
            </a:r>
            <a:r>
              <a:rPr lang="hr-HR" sz="4000" dirty="0">
                <a:solidFill>
                  <a:schemeClr val="bg1"/>
                </a:solidFill>
              </a:rPr>
              <a:t> </a:t>
            </a:r>
            <a:r>
              <a:rPr lang="hr-HR" sz="4000" dirty="0" err="1">
                <a:solidFill>
                  <a:schemeClr val="bg1"/>
                </a:solidFill>
              </a:rPr>
              <a:t>organizujemo</a:t>
            </a:r>
            <a:r>
              <a:rPr lang="hr-HR" sz="4000" dirty="0">
                <a:solidFill>
                  <a:schemeClr val="bg1"/>
                </a:solidFill>
              </a:rPr>
              <a:t> i održimo računar  urednim.</a:t>
            </a:r>
          </a:p>
        </p:txBody>
      </p:sp>
      <p:sp>
        <p:nvSpPr>
          <p:cNvPr id="14" name="TekstniOkvir 13">
            <a:extLst>
              <a:ext uri="{FF2B5EF4-FFF2-40B4-BE49-F238E27FC236}">
                <a16:creationId xmlns:a16="http://schemas.microsoft.com/office/drawing/2014/main" id="{8933EF0F-6CB5-35E3-AD3B-572F1C7EC4C4}"/>
              </a:ext>
            </a:extLst>
          </p:cNvPr>
          <p:cNvSpPr txBox="1"/>
          <p:nvPr/>
        </p:nvSpPr>
        <p:spPr>
          <a:xfrm>
            <a:off x="534536" y="3376165"/>
            <a:ext cx="1000231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4000" dirty="0">
                <a:solidFill>
                  <a:schemeClr val="bg1"/>
                </a:solidFill>
              </a:rPr>
              <a:t>Najčešće radnje</a:t>
            </a:r>
            <a:r>
              <a:rPr lang="hr-HR" sz="28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Premještanje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Kopiranje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Brisanje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Preimenovanje</a:t>
            </a:r>
          </a:p>
        </p:txBody>
      </p:sp>
      <p:pic>
        <p:nvPicPr>
          <p:cNvPr id="16" name="Slika 15">
            <a:extLst>
              <a:ext uri="{FF2B5EF4-FFF2-40B4-BE49-F238E27FC236}">
                <a16:creationId xmlns:a16="http://schemas.microsoft.com/office/drawing/2014/main" id="{AA1605B6-957C-C3BE-8522-3B368FE019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6843" y="3063790"/>
            <a:ext cx="3952627" cy="323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44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3BC2C-AF7E-19F6-A0E8-5C629854B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Slika 48">
            <a:extLst>
              <a:ext uri="{FF2B5EF4-FFF2-40B4-BE49-F238E27FC236}">
                <a16:creationId xmlns:a16="http://schemas.microsoft.com/office/drawing/2014/main" id="{DF3EDDF7-2803-F2CD-E1FB-9C344A003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69940" y="23654"/>
            <a:ext cx="10295223" cy="6858000"/>
          </a:xfrm>
          <a:prstGeom prst="rect">
            <a:avLst/>
          </a:prstGeom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8E915801-29A0-6161-DD7E-E431412F3DC8}"/>
              </a:ext>
            </a:extLst>
          </p:cNvPr>
          <p:cNvSpPr txBox="1"/>
          <p:nvPr/>
        </p:nvSpPr>
        <p:spPr>
          <a:xfrm>
            <a:off x="13017631" y="-10556"/>
            <a:ext cx="8723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5400" dirty="0">
                <a:solidFill>
                  <a:schemeClr val="bg1"/>
                </a:solidFill>
                <a:latin typeface="Felix Titling" panose="04060505060202020A04" pitchFamily="82" charset="0"/>
              </a:rPr>
              <a:t>KAKO KREIRATI FOLDER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6458119C-AF54-C559-3220-713699C37D7C}"/>
              </a:ext>
            </a:extLst>
          </p:cNvPr>
          <p:cNvSpPr txBox="1"/>
          <p:nvPr/>
        </p:nvSpPr>
        <p:spPr>
          <a:xfrm>
            <a:off x="12355771" y="1250203"/>
            <a:ext cx="9182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Desni klik na radnoj površini ili unutar drugog foldera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Izabrati opciju NEW-FOLDER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Novi folder je spreman za upotrebu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Unijeti naziv foldera i pritisnuti ENTER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7327D8B9-B9A4-DE4B-0FAB-E80156C04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6374" y="3530854"/>
            <a:ext cx="4768369" cy="3081136"/>
          </a:xfrm>
          <a:prstGeom prst="rect">
            <a:avLst/>
          </a:prstGeom>
        </p:spPr>
      </p:pic>
      <p:sp>
        <p:nvSpPr>
          <p:cNvPr id="29" name="TekstniOkvir 28">
            <a:extLst>
              <a:ext uri="{FF2B5EF4-FFF2-40B4-BE49-F238E27FC236}">
                <a16:creationId xmlns:a16="http://schemas.microsoft.com/office/drawing/2014/main" id="{85C796CA-2A0E-E4BA-6616-21CE392077D7}"/>
              </a:ext>
            </a:extLst>
          </p:cNvPr>
          <p:cNvSpPr txBox="1"/>
          <p:nvPr/>
        </p:nvSpPr>
        <p:spPr>
          <a:xfrm>
            <a:off x="1783080" y="-2981144"/>
            <a:ext cx="59244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6600" dirty="0">
                <a:solidFill>
                  <a:schemeClr val="bg1"/>
                </a:solidFill>
              </a:rPr>
              <a:t>VRSTE FAJLOVA</a:t>
            </a:r>
          </a:p>
        </p:txBody>
      </p:sp>
      <p:pic>
        <p:nvPicPr>
          <p:cNvPr id="32" name="Slika 31">
            <a:extLst>
              <a:ext uri="{FF2B5EF4-FFF2-40B4-BE49-F238E27FC236}">
                <a16:creationId xmlns:a16="http://schemas.microsoft.com/office/drawing/2014/main" id="{AA352A8C-E95B-96F0-6851-9716AF83E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856" y="-4470716"/>
            <a:ext cx="4029808" cy="3284844"/>
          </a:xfrm>
          <a:prstGeom prst="rect">
            <a:avLst/>
          </a:prstGeom>
        </p:spPr>
      </p:pic>
      <p:sp>
        <p:nvSpPr>
          <p:cNvPr id="33" name="Elipsa 32">
            <a:extLst>
              <a:ext uri="{FF2B5EF4-FFF2-40B4-BE49-F238E27FC236}">
                <a16:creationId xmlns:a16="http://schemas.microsoft.com/office/drawing/2014/main" id="{9C15A037-BE9E-8209-E19E-1667FC9744A5}"/>
              </a:ext>
            </a:extLst>
          </p:cNvPr>
          <p:cNvSpPr/>
          <p:nvPr/>
        </p:nvSpPr>
        <p:spPr>
          <a:xfrm>
            <a:off x="3623040" y="-1409260"/>
            <a:ext cx="342900" cy="2996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35" name="Ravni poveznik 34">
            <a:extLst>
              <a:ext uri="{FF2B5EF4-FFF2-40B4-BE49-F238E27FC236}">
                <a16:creationId xmlns:a16="http://schemas.microsoft.com/office/drawing/2014/main" id="{D7CA7E51-487F-00D0-675C-9A0CAC8A50D5}"/>
              </a:ext>
            </a:extLst>
          </p:cNvPr>
          <p:cNvCxnSpPr>
            <a:cxnSpLocks/>
          </p:cNvCxnSpPr>
          <p:nvPr/>
        </p:nvCxnSpPr>
        <p:spPr>
          <a:xfrm flipV="1">
            <a:off x="3076674" y="2832658"/>
            <a:ext cx="18558194" cy="203708"/>
          </a:xfrm>
          <a:prstGeom prst="line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avni poveznik 42">
            <a:extLst>
              <a:ext uri="{FF2B5EF4-FFF2-40B4-BE49-F238E27FC236}">
                <a16:creationId xmlns:a16="http://schemas.microsoft.com/office/drawing/2014/main" id="{F0FA6942-C973-54A4-EEBF-BDEA341C5643}"/>
              </a:ext>
            </a:extLst>
          </p:cNvPr>
          <p:cNvCxnSpPr>
            <a:cxnSpLocks/>
            <a:stCxn id="33" idx="5"/>
            <a:endCxn id="33" idx="5"/>
          </p:cNvCxnSpPr>
          <p:nvPr/>
        </p:nvCxnSpPr>
        <p:spPr>
          <a:xfrm>
            <a:off x="3915723" y="-115345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avni poveznik 45">
            <a:extLst>
              <a:ext uri="{FF2B5EF4-FFF2-40B4-BE49-F238E27FC236}">
                <a16:creationId xmlns:a16="http://schemas.microsoft.com/office/drawing/2014/main" id="{42ED3900-5378-742B-E533-B17873E35186}"/>
              </a:ext>
            </a:extLst>
          </p:cNvPr>
          <p:cNvCxnSpPr/>
          <p:nvPr/>
        </p:nvCxnSpPr>
        <p:spPr>
          <a:xfrm>
            <a:off x="3965940" y="-1109561"/>
            <a:ext cx="201891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kstniOkvir 49">
            <a:extLst>
              <a:ext uri="{FF2B5EF4-FFF2-40B4-BE49-F238E27FC236}">
                <a16:creationId xmlns:a16="http://schemas.microsoft.com/office/drawing/2014/main" id="{38F33992-ADEB-5979-AB2F-575E4302BE3F}"/>
              </a:ext>
            </a:extLst>
          </p:cNvPr>
          <p:cNvSpPr txBox="1"/>
          <p:nvPr/>
        </p:nvSpPr>
        <p:spPr>
          <a:xfrm>
            <a:off x="534536" y="-2140613"/>
            <a:ext cx="421076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Tekstualni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Multimedijalni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Programski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Arhive</a:t>
            </a:r>
          </a:p>
        </p:txBody>
      </p:sp>
      <p:sp>
        <p:nvSpPr>
          <p:cNvPr id="6" name="Elipsa 5">
            <a:extLst>
              <a:ext uri="{FF2B5EF4-FFF2-40B4-BE49-F238E27FC236}">
                <a16:creationId xmlns:a16="http://schemas.microsoft.com/office/drawing/2014/main" id="{225F06EA-F288-17D0-BB82-9B369B18FB65}"/>
              </a:ext>
            </a:extLst>
          </p:cNvPr>
          <p:cNvSpPr/>
          <p:nvPr/>
        </p:nvSpPr>
        <p:spPr>
          <a:xfrm>
            <a:off x="16328440" y="830069"/>
            <a:ext cx="595867" cy="3224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Elipsa 6">
            <a:extLst>
              <a:ext uri="{FF2B5EF4-FFF2-40B4-BE49-F238E27FC236}">
                <a16:creationId xmlns:a16="http://schemas.microsoft.com/office/drawing/2014/main" id="{4BB330C8-6403-A6F5-A86C-901986C52232}"/>
              </a:ext>
            </a:extLst>
          </p:cNvPr>
          <p:cNvSpPr/>
          <p:nvPr/>
        </p:nvSpPr>
        <p:spPr>
          <a:xfrm>
            <a:off x="24098250" y="889445"/>
            <a:ext cx="342900" cy="2575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3" name="Ravni poveznik 12">
            <a:extLst>
              <a:ext uri="{FF2B5EF4-FFF2-40B4-BE49-F238E27FC236}">
                <a16:creationId xmlns:a16="http://schemas.microsoft.com/office/drawing/2014/main" id="{A7B8916F-8CEE-C2DF-5DD1-D03611DF5DC2}"/>
              </a:ext>
            </a:extLst>
          </p:cNvPr>
          <p:cNvCxnSpPr/>
          <p:nvPr/>
        </p:nvCxnSpPr>
        <p:spPr>
          <a:xfrm flipH="1">
            <a:off x="-318052" y="-1222269"/>
            <a:ext cx="3566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kstniOkvir 9">
            <a:extLst>
              <a:ext uri="{FF2B5EF4-FFF2-40B4-BE49-F238E27FC236}">
                <a16:creationId xmlns:a16="http://schemas.microsoft.com/office/drawing/2014/main" id="{5BEF2D80-C509-C9BE-90BB-C6C1C8D824A8}"/>
              </a:ext>
            </a:extLst>
          </p:cNvPr>
          <p:cNvSpPr txBox="1"/>
          <p:nvPr/>
        </p:nvSpPr>
        <p:spPr>
          <a:xfrm>
            <a:off x="452265" y="-4012195"/>
            <a:ext cx="106837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4800" dirty="0">
                <a:solidFill>
                  <a:schemeClr val="bg1"/>
                </a:solidFill>
                <a:latin typeface="Felix Titling" panose="04060505060202020A04" pitchFamily="82" charset="0"/>
              </a:rPr>
              <a:t>SAVJETI ZA ORGANIZACIJU FAJLOVA</a:t>
            </a: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4FD98804-EB95-65AD-DDAA-3B01D6AFD6B9}"/>
              </a:ext>
            </a:extLst>
          </p:cNvPr>
          <p:cNvSpPr txBox="1"/>
          <p:nvPr/>
        </p:nvSpPr>
        <p:spPr>
          <a:xfrm>
            <a:off x="-2243044" y="-4067050"/>
            <a:ext cx="790620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Kreiraj posebne  foldere za </a:t>
            </a:r>
            <a:r>
              <a:rPr lang="hr-HR" sz="2800" dirty="0" err="1">
                <a:solidFill>
                  <a:schemeClr val="bg1"/>
                </a:solidFill>
              </a:rPr>
              <a:t>raličite</a:t>
            </a:r>
            <a:r>
              <a:rPr lang="hr-HR" sz="2800" dirty="0">
                <a:solidFill>
                  <a:schemeClr val="bg1"/>
                </a:solidFill>
              </a:rPr>
              <a:t> vrste sadržaja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Imenuj </a:t>
            </a:r>
            <a:r>
              <a:rPr lang="hr-HR" sz="2800" dirty="0" err="1">
                <a:solidFill>
                  <a:schemeClr val="bg1"/>
                </a:solidFill>
              </a:rPr>
              <a:t>fajlove</a:t>
            </a:r>
            <a:r>
              <a:rPr lang="hr-HR" sz="2800" dirty="0">
                <a:solidFill>
                  <a:schemeClr val="bg1"/>
                </a:solidFill>
              </a:rPr>
              <a:t> jasno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Koristi datume u nazivima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Redovno briši nepotrebne </a:t>
            </a:r>
            <a:r>
              <a:rPr lang="hr-HR" sz="2800" dirty="0" err="1">
                <a:solidFill>
                  <a:schemeClr val="bg1"/>
                </a:solidFill>
              </a:rPr>
              <a:t>fajlove</a:t>
            </a:r>
            <a:r>
              <a:rPr lang="hr-HR" sz="2800" dirty="0">
                <a:solidFill>
                  <a:schemeClr val="bg1"/>
                </a:solidFill>
              </a:rPr>
              <a:t> i pravi backup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Koristi oblačno čuvanje</a:t>
            </a:r>
          </a:p>
        </p:txBody>
      </p:sp>
      <p:pic>
        <p:nvPicPr>
          <p:cNvPr id="12" name="Slika 11">
            <a:extLst>
              <a:ext uri="{FF2B5EF4-FFF2-40B4-BE49-F238E27FC236}">
                <a16:creationId xmlns:a16="http://schemas.microsoft.com/office/drawing/2014/main" id="{D282E4C8-E124-6231-8631-E776899EE4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3764" y="-4752567"/>
            <a:ext cx="4343079" cy="3062586"/>
          </a:xfrm>
          <a:prstGeom prst="rect">
            <a:avLst/>
          </a:prstGeom>
        </p:spPr>
      </p:pic>
      <p:sp>
        <p:nvSpPr>
          <p:cNvPr id="8" name="TekstniOkvir 7">
            <a:extLst>
              <a:ext uri="{FF2B5EF4-FFF2-40B4-BE49-F238E27FC236}">
                <a16:creationId xmlns:a16="http://schemas.microsoft.com/office/drawing/2014/main" id="{6A7B6EC8-6D0F-CDD7-B8AF-4A1BC63A931D}"/>
              </a:ext>
            </a:extLst>
          </p:cNvPr>
          <p:cNvSpPr txBox="1"/>
          <p:nvPr/>
        </p:nvSpPr>
        <p:spPr>
          <a:xfrm flipH="1">
            <a:off x="103825" y="114136"/>
            <a:ext cx="106837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5400" dirty="0">
                <a:solidFill>
                  <a:schemeClr val="bg1"/>
                </a:solidFill>
                <a:latin typeface="Felix Titling" panose="04060505060202020A04" pitchFamily="82" charset="0"/>
              </a:rPr>
              <a:t>MANIPULISANJE FOLDERIMA I FAJLOVMA</a:t>
            </a:r>
          </a:p>
        </p:txBody>
      </p:sp>
      <p:pic>
        <p:nvPicPr>
          <p:cNvPr id="1032" name="Picture 8" descr="Black background Images - Free Download on Freepik">
            <a:extLst>
              <a:ext uri="{FF2B5EF4-FFF2-40B4-BE49-F238E27FC236}">
                <a16:creationId xmlns:a16="http://schemas.microsoft.com/office/drawing/2014/main" id="{CEA35847-D18A-21E2-9022-96383812A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9764" y="23653"/>
            <a:ext cx="12611527" cy="70536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kstniOkvir 1">
            <a:extLst>
              <a:ext uri="{FF2B5EF4-FFF2-40B4-BE49-F238E27FC236}">
                <a16:creationId xmlns:a16="http://schemas.microsoft.com/office/drawing/2014/main" id="{1CCA1F8F-255B-C9E6-0B1E-A14D70CE9E0D}"/>
              </a:ext>
            </a:extLst>
          </p:cNvPr>
          <p:cNvSpPr txBox="1"/>
          <p:nvPr/>
        </p:nvSpPr>
        <p:spPr>
          <a:xfrm>
            <a:off x="-948486" y="-5035552"/>
            <a:ext cx="9894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5400" dirty="0">
                <a:solidFill>
                  <a:schemeClr val="bg1"/>
                </a:solidFill>
                <a:latin typeface="Felix Titling" panose="04060505060202020A04" pitchFamily="82" charset="0"/>
              </a:rPr>
              <a:t>MANIPULISANJE FAJLOVIMA</a:t>
            </a:r>
          </a:p>
        </p:txBody>
      </p:sp>
      <p:sp>
        <p:nvSpPr>
          <p:cNvPr id="9" name="TekstniOkvir 8">
            <a:extLst>
              <a:ext uri="{FF2B5EF4-FFF2-40B4-BE49-F238E27FC236}">
                <a16:creationId xmlns:a16="http://schemas.microsoft.com/office/drawing/2014/main" id="{E85FEDBE-6C1B-B1CA-BACF-DC4004F1D6C7}"/>
              </a:ext>
            </a:extLst>
          </p:cNvPr>
          <p:cNvSpPr txBox="1"/>
          <p:nvPr/>
        </p:nvSpPr>
        <p:spPr>
          <a:xfrm>
            <a:off x="-611402" y="-4112538"/>
            <a:ext cx="9894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hr-HR" sz="4000" dirty="0" err="1">
                <a:solidFill>
                  <a:schemeClr val="bg1"/>
                </a:solidFill>
              </a:rPr>
              <a:t>Manipulisanje</a:t>
            </a:r>
            <a:r>
              <a:rPr lang="hr-HR" sz="4000" dirty="0">
                <a:solidFill>
                  <a:schemeClr val="bg1"/>
                </a:solidFill>
              </a:rPr>
              <a:t> </a:t>
            </a:r>
            <a:r>
              <a:rPr lang="hr-HR" sz="4000" dirty="0" err="1">
                <a:solidFill>
                  <a:schemeClr val="bg1"/>
                </a:solidFill>
              </a:rPr>
              <a:t>fajlovima</a:t>
            </a:r>
            <a:r>
              <a:rPr lang="hr-HR" sz="4000" dirty="0">
                <a:solidFill>
                  <a:schemeClr val="bg1"/>
                </a:solidFill>
              </a:rPr>
              <a:t> nam </a:t>
            </a:r>
            <a:r>
              <a:rPr lang="hr-HR" sz="4000" dirty="0" err="1">
                <a:solidFill>
                  <a:schemeClr val="bg1"/>
                </a:solidFill>
              </a:rPr>
              <a:t>omogucava</a:t>
            </a:r>
            <a:r>
              <a:rPr lang="hr-HR" sz="4000" dirty="0">
                <a:solidFill>
                  <a:schemeClr val="bg1"/>
                </a:solidFill>
              </a:rPr>
              <a:t> da </a:t>
            </a:r>
            <a:r>
              <a:rPr lang="hr-HR" sz="4000" dirty="0" err="1">
                <a:solidFill>
                  <a:schemeClr val="bg1"/>
                </a:solidFill>
              </a:rPr>
              <a:t>fajlove</a:t>
            </a:r>
            <a:r>
              <a:rPr lang="hr-HR" sz="4000" dirty="0">
                <a:solidFill>
                  <a:schemeClr val="bg1"/>
                </a:solidFill>
              </a:rPr>
              <a:t> </a:t>
            </a:r>
            <a:r>
              <a:rPr lang="hr-HR" sz="4000" dirty="0" err="1">
                <a:solidFill>
                  <a:schemeClr val="bg1"/>
                </a:solidFill>
              </a:rPr>
              <a:t>organizujemo</a:t>
            </a:r>
            <a:r>
              <a:rPr lang="hr-HR" sz="4000" dirty="0">
                <a:solidFill>
                  <a:schemeClr val="bg1"/>
                </a:solidFill>
              </a:rPr>
              <a:t> i održimo računar  urednim.</a:t>
            </a:r>
          </a:p>
        </p:txBody>
      </p:sp>
      <p:sp>
        <p:nvSpPr>
          <p:cNvPr id="14" name="TekstniOkvir 13">
            <a:extLst>
              <a:ext uri="{FF2B5EF4-FFF2-40B4-BE49-F238E27FC236}">
                <a16:creationId xmlns:a16="http://schemas.microsoft.com/office/drawing/2014/main" id="{EB553FC8-4C9E-9A4B-5ADD-18277E27E513}"/>
              </a:ext>
            </a:extLst>
          </p:cNvPr>
          <p:cNvSpPr txBox="1"/>
          <p:nvPr/>
        </p:nvSpPr>
        <p:spPr>
          <a:xfrm>
            <a:off x="-802592" y="-5767123"/>
            <a:ext cx="1000231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4000" dirty="0">
                <a:solidFill>
                  <a:schemeClr val="bg1"/>
                </a:solidFill>
              </a:rPr>
              <a:t>Najčešće radnje</a:t>
            </a:r>
            <a:r>
              <a:rPr lang="hr-HR" sz="28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Premještanje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Kopiranje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Brisanje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Preimenovanje</a:t>
            </a:r>
          </a:p>
        </p:txBody>
      </p:sp>
      <p:pic>
        <p:nvPicPr>
          <p:cNvPr id="16" name="Slika 15">
            <a:extLst>
              <a:ext uri="{FF2B5EF4-FFF2-40B4-BE49-F238E27FC236}">
                <a16:creationId xmlns:a16="http://schemas.microsoft.com/office/drawing/2014/main" id="{019AAF6A-C6D7-963B-FD13-E731BD1BF2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5396" y="-4171193"/>
            <a:ext cx="3952627" cy="3236252"/>
          </a:xfrm>
          <a:prstGeom prst="rect">
            <a:avLst/>
          </a:prstGeom>
        </p:spPr>
      </p:pic>
      <p:sp>
        <p:nvSpPr>
          <p:cNvPr id="15" name="TekstniOkvir 14">
            <a:extLst>
              <a:ext uri="{FF2B5EF4-FFF2-40B4-BE49-F238E27FC236}">
                <a16:creationId xmlns:a16="http://schemas.microsoft.com/office/drawing/2014/main" id="{E35F4D14-2C62-9732-5E0F-B38B7C1F7093}"/>
              </a:ext>
            </a:extLst>
          </p:cNvPr>
          <p:cNvSpPr txBox="1"/>
          <p:nvPr/>
        </p:nvSpPr>
        <p:spPr>
          <a:xfrm>
            <a:off x="103824" y="115063"/>
            <a:ext cx="119691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5400" dirty="0">
                <a:solidFill>
                  <a:schemeClr val="bg1"/>
                </a:solidFill>
                <a:latin typeface="Felix Titling" panose="04060505060202020A04" pitchFamily="82" charset="0"/>
              </a:rPr>
              <a:t>NAČINI MANIPULACIJE </a:t>
            </a:r>
            <a:r>
              <a:rPr lang="hr-HR" sz="5400" dirty="0" err="1">
                <a:solidFill>
                  <a:schemeClr val="bg1"/>
                </a:solidFill>
                <a:latin typeface="Felix Titling" panose="04060505060202020A04" pitchFamily="82" charset="0"/>
              </a:rPr>
              <a:t>fajlovima</a:t>
            </a:r>
            <a:endParaRPr lang="hr-HR" sz="5400" dirty="0">
              <a:solidFill>
                <a:schemeClr val="bg1"/>
              </a:solidFill>
              <a:latin typeface="Felix Titling" panose="04060505060202020A04" pitchFamily="82" charset="0"/>
            </a:endParaRPr>
          </a:p>
          <a:p>
            <a:endParaRPr lang="hr-HR" sz="5400" dirty="0">
              <a:solidFill>
                <a:schemeClr val="bg1"/>
              </a:solidFill>
              <a:latin typeface="Felix Titling" panose="04060505060202020A04" pitchFamily="82" charset="0"/>
            </a:endParaRPr>
          </a:p>
        </p:txBody>
      </p:sp>
      <p:sp>
        <p:nvSpPr>
          <p:cNvPr id="17" name="TekstniOkvir 16">
            <a:extLst>
              <a:ext uri="{FF2B5EF4-FFF2-40B4-BE49-F238E27FC236}">
                <a16:creationId xmlns:a16="http://schemas.microsoft.com/office/drawing/2014/main" id="{9E299AC9-15BB-3316-A17B-2AFD4B6F0BA6}"/>
              </a:ext>
            </a:extLst>
          </p:cNvPr>
          <p:cNvSpPr txBox="1"/>
          <p:nvPr/>
        </p:nvSpPr>
        <p:spPr>
          <a:xfrm>
            <a:off x="15148" y="1089769"/>
            <a:ext cx="112476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4000" dirty="0">
                <a:solidFill>
                  <a:schemeClr val="bg1"/>
                </a:solidFill>
              </a:rPr>
              <a:t>Mišem (povuci i pusti)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4000" dirty="0">
                <a:solidFill>
                  <a:schemeClr val="bg1"/>
                </a:solidFill>
              </a:rPr>
              <a:t>Desni klik (opcije </a:t>
            </a:r>
            <a:r>
              <a:rPr lang="hr-HR" sz="4000" dirty="0" err="1">
                <a:solidFill>
                  <a:schemeClr val="bg1"/>
                </a:solidFill>
              </a:rPr>
              <a:t>Copy</a:t>
            </a:r>
            <a:r>
              <a:rPr lang="hr-HR" sz="4000" dirty="0">
                <a:solidFill>
                  <a:schemeClr val="bg1"/>
                </a:solidFill>
              </a:rPr>
              <a:t>, Paste, </a:t>
            </a:r>
            <a:r>
              <a:rPr lang="hr-HR" sz="4000" dirty="0" err="1">
                <a:solidFill>
                  <a:schemeClr val="bg1"/>
                </a:solidFill>
              </a:rPr>
              <a:t>Rename</a:t>
            </a:r>
            <a:r>
              <a:rPr lang="hr-HR" sz="4000" dirty="0">
                <a:solidFill>
                  <a:schemeClr val="bg1"/>
                </a:solidFill>
              </a:rPr>
              <a:t>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4000" dirty="0">
                <a:solidFill>
                  <a:schemeClr val="bg1"/>
                </a:solidFill>
              </a:rPr>
              <a:t>Prečaci na tastaturi      </a:t>
            </a:r>
          </a:p>
        </p:txBody>
      </p:sp>
      <p:pic>
        <p:nvPicPr>
          <p:cNvPr id="18" name="Slika 17">
            <a:extLst>
              <a:ext uri="{FF2B5EF4-FFF2-40B4-BE49-F238E27FC236}">
                <a16:creationId xmlns:a16="http://schemas.microsoft.com/office/drawing/2014/main" id="{E2F06BA5-C3D9-4E77-F706-38FC1612D8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2544" y="2690826"/>
            <a:ext cx="4841644" cy="393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614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3CE9-1F75-98FF-33AE-3AF5E9544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Slika 48">
            <a:extLst>
              <a:ext uri="{FF2B5EF4-FFF2-40B4-BE49-F238E27FC236}">
                <a16:creationId xmlns:a16="http://schemas.microsoft.com/office/drawing/2014/main" id="{20CFF173-E37B-6FCB-4A0A-D773E3B62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69940" y="23654"/>
            <a:ext cx="10295223" cy="6858000"/>
          </a:xfrm>
          <a:prstGeom prst="rect">
            <a:avLst/>
          </a:prstGeom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3A1FF6D9-B08F-AC41-DB83-0EC9406D6B87}"/>
              </a:ext>
            </a:extLst>
          </p:cNvPr>
          <p:cNvSpPr txBox="1"/>
          <p:nvPr/>
        </p:nvSpPr>
        <p:spPr>
          <a:xfrm>
            <a:off x="13017631" y="-10556"/>
            <a:ext cx="8723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5400" dirty="0">
                <a:solidFill>
                  <a:schemeClr val="bg1"/>
                </a:solidFill>
                <a:latin typeface="Felix Titling" panose="04060505060202020A04" pitchFamily="82" charset="0"/>
              </a:rPr>
              <a:t>KAKO KREIRATI FOLDER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5CD9316F-1262-71C4-3229-4E723F2006F0}"/>
              </a:ext>
            </a:extLst>
          </p:cNvPr>
          <p:cNvSpPr txBox="1"/>
          <p:nvPr/>
        </p:nvSpPr>
        <p:spPr>
          <a:xfrm>
            <a:off x="12355771" y="1250203"/>
            <a:ext cx="9182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Desni klik na radnoj površini ili unutar drugog foldera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Izabrati opciju NEW-FOLDER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Novi folder je spreman za upotrebu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Unijeti naziv foldera i pritisnuti ENTER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3567521C-1B66-5EC7-E2A2-93DA9FB84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6374" y="3530854"/>
            <a:ext cx="4768369" cy="3081136"/>
          </a:xfrm>
          <a:prstGeom prst="rect">
            <a:avLst/>
          </a:prstGeom>
        </p:spPr>
      </p:pic>
      <p:sp>
        <p:nvSpPr>
          <p:cNvPr id="29" name="TekstniOkvir 28">
            <a:extLst>
              <a:ext uri="{FF2B5EF4-FFF2-40B4-BE49-F238E27FC236}">
                <a16:creationId xmlns:a16="http://schemas.microsoft.com/office/drawing/2014/main" id="{91169697-8E16-1ABF-6B67-E7D446F3C9D4}"/>
              </a:ext>
            </a:extLst>
          </p:cNvPr>
          <p:cNvSpPr txBox="1"/>
          <p:nvPr/>
        </p:nvSpPr>
        <p:spPr>
          <a:xfrm>
            <a:off x="1783080" y="-2981144"/>
            <a:ext cx="59244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6600" dirty="0">
                <a:solidFill>
                  <a:schemeClr val="bg1"/>
                </a:solidFill>
              </a:rPr>
              <a:t>VRSTE FAJLOVA</a:t>
            </a:r>
          </a:p>
        </p:txBody>
      </p:sp>
      <p:pic>
        <p:nvPicPr>
          <p:cNvPr id="32" name="Slika 31">
            <a:extLst>
              <a:ext uri="{FF2B5EF4-FFF2-40B4-BE49-F238E27FC236}">
                <a16:creationId xmlns:a16="http://schemas.microsoft.com/office/drawing/2014/main" id="{8E4543DD-7A23-AD2F-9B44-BFA971937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856" y="-4470716"/>
            <a:ext cx="4029808" cy="3284844"/>
          </a:xfrm>
          <a:prstGeom prst="rect">
            <a:avLst/>
          </a:prstGeom>
        </p:spPr>
      </p:pic>
      <p:sp>
        <p:nvSpPr>
          <p:cNvPr id="33" name="Elipsa 32">
            <a:extLst>
              <a:ext uri="{FF2B5EF4-FFF2-40B4-BE49-F238E27FC236}">
                <a16:creationId xmlns:a16="http://schemas.microsoft.com/office/drawing/2014/main" id="{8F1D92BD-CE76-8344-5507-0B94E84012DC}"/>
              </a:ext>
            </a:extLst>
          </p:cNvPr>
          <p:cNvSpPr/>
          <p:nvPr/>
        </p:nvSpPr>
        <p:spPr>
          <a:xfrm>
            <a:off x="3623040" y="-1409260"/>
            <a:ext cx="342900" cy="2996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35" name="Ravni poveznik 34">
            <a:extLst>
              <a:ext uri="{FF2B5EF4-FFF2-40B4-BE49-F238E27FC236}">
                <a16:creationId xmlns:a16="http://schemas.microsoft.com/office/drawing/2014/main" id="{8EBFF24C-9098-B4A2-56C5-0A6DCB8C8D62}"/>
              </a:ext>
            </a:extLst>
          </p:cNvPr>
          <p:cNvCxnSpPr>
            <a:cxnSpLocks/>
          </p:cNvCxnSpPr>
          <p:nvPr/>
        </p:nvCxnSpPr>
        <p:spPr>
          <a:xfrm flipV="1">
            <a:off x="3076674" y="2832658"/>
            <a:ext cx="18558194" cy="203708"/>
          </a:xfrm>
          <a:prstGeom prst="line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avni poveznik 42">
            <a:extLst>
              <a:ext uri="{FF2B5EF4-FFF2-40B4-BE49-F238E27FC236}">
                <a16:creationId xmlns:a16="http://schemas.microsoft.com/office/drawing/2014/main" id="{A5157993-2974-8804-C72C-7982211D66F9}"/>
              </a:ext>
            </a:extLst>
          </p:cNvPr>
          <p:cNvCxnSpPr>
            <a:cxnSpLocks/>
            <a:stCxn id="33" idx="5"/>
            <a:endCxn id="33" idx="5"/>
          </p:cNvCxnSpPr>
          <p:nvPr/>
        </p:nvCxnSpPr>
        <p:spPr>
          <a:xfrm>
            <a:off x="3915723" y="-115345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avni poveznik 45">
            <a:extLst>
              <a:ext uri="{FF2B5EF4-FFF2-40B4-BE49-F238E27FC236}">
                <a16:creationId xmlns:a16="http://schemas.microsoft.com/office/drawing/2014/main" id="{66B0C8AE-C95A-EB6C-3B39-8A27BDF95C47}"/>
              </a:ext>
            </a:extLst>
          </p:cNvPr>
          <p:cNvCxnSpPr/>
          <p:nvPr/>
        </p:nvCxnSpPr>
        <p:spPr>
          <a:xfrm>
            <a:off x="3965940" y="-1109561"/>
            <a:ext cx="201891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kstniOkvir 49">
            <a:extLst>
              <a:ext uri="{FF2B5EF4-FFF2-40B4-BE49-F238E27FC236}">
                <a16:creationId xmlns:a16="http://schemas.microsoft.com/office/drawing/2014/main" id="{46DE245E-D331-A262-E2E3-1DEB3B6EFC4C}"/>
              </a:ext>
            </a:extLst>
          </p:cNvPr>
          <p:cNvSpPr txBox="1"/>
          <p:nvPr/>
        </p:nvSpPr>
        <p:spPr>
          <a:xfrm>
            <a:off x="534536" y="-2140613"/>
            <a:ext cx="421076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Tekstualni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Multimedijalni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Programski </a:t>
            </a:r>
            <a:r>
              <a:rPr lang="hr-HR" sz="3200" dirty="0" err="1">
                <a:solidFill>
                  <a:schemeClr val="bg1"/>
                </a:solidFill>
              </a:rPr>
              <a:t>fajlovi</a:t>
            </a:r>
            <a:endParaRPr lang="hr-HR" sz="3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200" dirty="0">
                <a:solidFill>
                  <a:schemeClr val="bg1"/>
                </a:solidFill>
              </a:rPr>
              <a:t>Arhive</a:t>
            </a:r>
          </a:p>
        </p:txBody>
      </p:sp>
      <p:sp>
        <p:nvSpPr>
          <p:cNvPr id="6" name="Elipsa 5">
            <a:extLst>
              <a:ext uri="{FF2B5EF4-FFF2-40B4-BE49-F238E27FC236}">
                <a16:creationId xmlns:a16="http://schemas.microsoft.com/office/drawing/2014/main" id="{E0A5E263-CF48-F8E2-CE5C-6B39ED3FD6F0}"/>
              </a:ext>
            </a:extLst>
          </p:cNvPr>
          <p:cNvSpPr/>
          <p:nvPr/>
        </p:nvSpPr>
        <p:spPr>
          <a:xfrm>
            <a:off x="16328440" y="830069"/>
            <a:ext cx="595867" cy="3224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Elipsa 6">
            <a:extLst>
              <a:ext uri="{FF2B5EF4-FFF2-40B4-BE49-F238E27FC236}">
                <a16:creationId xmlns:a16="http://schemas.microsoft.com/office/drawing/2014/main" id="{7CC471B2-B2BF-AC1B-953E-7898003D9BFC}"/>
              </a:ext>
            </a:extLst>
          </p:cNvPr>
          <p:cNvSpPr/>
          <p:nvPr/>
        </p:nvSpPr>
        <p:spPr>
          <a:xfrm>
            <a:off x="24098250" y="889445"/>
            <a:ext cx="342900" cy="2575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13" name="Ravni poveznik 12">
            <a:extLst>
              <a:ext uri="{FF2B5EF4-FFF2-40B4-BE49-F238E27FC236}">
                <a16:creationId xmlns:a16="http://schemas.microsoft.com/office/drawing/2014/main" id="{B0E03AEE-8511-B6AF-0801-3B30E0C4B510}"/>
              </a:ext>
            </a:extLst>
          </p:cNvPr>
          <p:cNvCxnSpPr/>
          <p:nvPr/>
        </p:nvCxnSpPr>
        <p:spPr>
          <a:xfrm flipH="1">
            <a:off x="-318052" y="-1222269"/>
            <a:ext cx="3566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kstniOkvir 9">
            <a:extLst>
              <a:ext uri="{FF2B5EF4-FFF2-40B4-BE49-F238E27FC236}">
                <a16:creationId xmlns:a16="http://schemas.microsoft.com/office/drawing/2014/main" id="{51465F74-3B4E-0F07-0BF4-A18E3F9C061C}"/>
              </a:ext>
            </a:extLst>
          </p:cNvPr>
          <p:cNvSpPr txBox="1"/>
          <p:nvPr/>
        </p:nvSpPr>
        <p:spPr>
          <a:xfrm>
            <a:off x="452265" y="-4012195"/>
            <a:ext cx="106837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4800" dirty="0">
                <a:solidFill>
                  <a:schemeClr val="bg1"/>
                </a:solidFill>
                <a:latin typeface="Felix Titling" panose="04060505060202020A04" pitchFamily="82" charset="0"/>
              </a:rPr>
              <a:t>SAVJETI ZA ORGANIZACIJU FAJLOVA</a:t>
            </a: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B48FBDF3-2F68-7C5B-4AEE-A53A0B1EA16A}"/>
              </a:ext>
            </a:extLst>
          </p:cNvPr>
          <p:cNvSpPr txBox="1"/>
          <p:nvPr/>
        </p:nvSpPr>
        <p:spPr>
          <a:xfrm>
            <a:off x="-2243044" y="-4067050"/>
            <a:ext cx="790620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Kreiraj posebne  foldere za </a:t>
            </a:r>
            <a:r>
              <a:rPr lang="hr-HR" sz="2800" dirty="0" err="1">
                <a:solidFill>
                  <a:schemeClr val="bg1"/>
                </a:solidFill>
              </a:rPr>
              <a:t>raličite</a:t>
            </a:r>
            <a:r>
              <a:rPr lang="hr-HR" sz="2800" dirty="0">
                <a:solidFill>
                  <a:schemeClr val="bg1"/>
                </a:solidFill>
              </a:rPr>
              <a:t> vrste sadržaja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Imenuj </a:t>
            </a:r>
            <a:r>
              <a:rPr lang="hr-HR" sz="2800" dirty="0" err="1">
                <a:solidFill>
                  <a:schemeClr val="bg1"/>
                </a:solidFill>
              </a:rPr>
              <a:t>fajlove</a:t>
            </a:r>
            <a:r>
              <a:rPr lang="hr-HR" sz="2800" dirty="0">
                <a:solidFill>
                  <a:schemeClr val="bg1"/>
                </a:solidFill>
              </a:rPr>
              <a:t> jasno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Koristi datume u nazivima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Redovno briši nepotrebne </a:t>
            </a:r>
            <a:r>
              <a:rPr lang="hr-HR" sz="2800" dirty="0" err="1">
                <a:solidFill>
                  <a:schemeClr val="bg1"/>
                </a:solidFill>
              </a:rPr>
              <a:t>fajlove</a:t>
            </a:r>
            <a:r>
              <a:rPr lang="hr-HR" sz="2800" dirty="0">
                <a:solidFill>
                  <a:schemeClr val="bg1"/>
                </a:solidFill>
              </a:rPr>
              <a:t> i pravi backup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2800" dirty="0">
                <a:solidFill>
                  <a:schemeClr val="bg1"/>
                </a:solidFill>
              </a:rPr>
              <a:t>Koristi oblačno čuvanje</a:t>
            </a:r>
          </a:p>
        </p:txBody>
      </p:sp>
      <p:pic>
        <p:nvPicPr>
          <p:cNvPr id="12" name="Slika 11">
            <a:extLst>
              <a:ext uri="{FF2B5EF4-FFF2-40B4-BE49-F238E27FC236}">
                <a16:creationId xmlns:a16="http://schemas.microsoft.com/office/drawing/2014/main" id="{0C29B048-FB08-F9F0-36EB-49D1E02F9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3764" y="-4752567"/>
            <a:ext cx="4343079" cy="3062586"/>
          </a:xfrm>
          <a:prstGeom prst="rect">
            <a:avLst/>
          </a:prstGeom>
        </p:spPr>
      </p:pic>
      <p:sp>
        <p:nvSpPr>
          <p:cNvPr id="8" name="TekstniOkvir 7">
            <a:extLst>
              <a:ext uri="{FF2B5EF4-FFF2-40B4-BE49-F238E27FC236}">
                <a16:creationId xmlns:a16="http://schemas.microsoft.com/office/drawing/2014/main" id="{1D0F5807-A3EC-C0A1-3433-2A4C22A1B0D6}"/>
              </a:ext>
            </a:extLst>
          </p:cNvPr>
          <p:cNvSpPr txBox="1"/>
          <p:nvPr/>
        </p:nvSpPr>
        <p:spPr>
          <a:xfrm flipH="1">
            <a:off x="103825" y="114136"/>
            <a:ext cx="106837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5400" dirty="0">
                <a:solidFill>
                  <a:schemeClr val="bg1"/>
                </a:solidFill>
                <a:latin typeface="Felix Titling" panose="04060505060202020A04" pitchFamily="82" charset="0"/>
              </a:rPr>
              <a:t>MANIPULISANJE FOLDERIMA I FAJLOVMA</a:t>
            </a:r>
          </a:p>
        </p:txBody>
      </p:sp>
      <p:pic>
        <p:nvPicPr>
          <p:cNvPr id="1032" name="Picture 8" descr="Black background Images - Free Download on Freepik">
            <a:extLst>
              <a:ext uri="{FF2B5EF4-FFF2-40B4-BE49-F238E27FC236}">
                <a16:creationId xmlns:a16="http://schemas.microsoft.com/office/drawing/2014/main" id="{142962DB-D8D4-0353-A944-7662A6C7A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657" y="-78509"/>
            <a:ext cx="12286657" cy="70059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kstniOkvir 1">
            <a:extLst>
              <a:ext uri="{FF2B5EF4-FFF2-40B4-BE49-F238E27FC236}">
                <a16:creationId xmlns:a16="http://schemas.microsoft.com/office/drawing/2014/main" id="{0A8FB1C9-E4A9-572E-F65F-89F90860305D}"/>
              </a:ext>
            </a:extLst>
          </p:cNvPr>
          <p:cNvSpPr txBox="1"/>
          <p:nvPr/>
        </p:nvSpPr>
        <p:spPr>
          <a:xfrm>
            <a:off x="-276660" y="-2452237"/>
            <a:ext cx="9894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5400" dirty="0">
                <a:solidFill>
                  <a:schemeClr val="bg1"/>
                </a:solidFill>
                <a:latin typeface="Felix Titling" panose="04060505060202020A04" pitchFamily="82" charset="0"/>
              </a:rPr>
              <a:t>MANIPULISANJE FOLDERIMA</a:t>
            </a:r>
          </a:p>
        </p:txBody>
      </p:sp>
      <p:sp>
        <p:nvSpPr>
          <p:cNvPr id="9" name="TekstniOkvir 8">
            <a:extLst>
              <a:ext uri="{FF2B5EF4-FFF2-40B4-BE49-F238E27FC236}">
                <a16:creationId xmlns:a16="http://schemas.microsoft.com/office/drawing/2014/main" id="{4201C924-9517-F1FB-7F22-B563244F8BDE}"/>
              </a:ext>
            </a:extLst>
          </p:cNvPr>
          <p:cNvSpPr txBox="1"/>
          <p:nvPr/>
        </p:nvSpPr>
        <p:spPr>
          <a:xfrm>
            <a:off x="-981508" y="-5182943"/>
            <a:ext cx="9894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hr-HR" sz="4000" dirty="0" err="1">
                <a:solidFill>
                  <a:schemeClr val="bg1"/>
                </a:solidFill>
              </a:rPr>
              <a:t>Manipulisanje</a:t>
            </a:r>
            <a:r>
              <a:rPr lang="hr-HR" sz="4000" dirty="0">
                <a:solidFill>
                  <a:schemeClr val="bg1"/>
                </a:solidFill>
              </a:rPr>
              <a:t> folderima nam </a:t>
            </a:r>
            <a:r>
              <a:rPr lang="hr-HR" sz="4000" dirty="0" err="1">
                <a:solidFill>
                  <a:schemeClr val="bg1"/>
                </a:solidFill>
              </a:rPr>
              <a:t>omogucava</a:t>
            </a:r>
            <a:r>
              <a:rPr lang="hr-HR" sz="4000" dirty="0">
                <a:solidFill>
                  <a:schemeClr val="bg1"/>
                </a:solidFill>
              </a:rPr>
              <a:t> da </a:t>
            </a:r>
            <a:r>
              <a:rPr lang="hr-HR" sz="4000" dirty="0" err="1">
                <a:solidFill>
                  <a:schemeClr val="bg1"/>
                </a:solidFill>
              </a:rPr>
              <a:t>fajlove</a:t>
            </a:r>
            <a:r>
              <a:rPr lang="hr-HR" sz="4000" dirty="0">
                <a:solidFill>
                  <a:schemeClr val="bg1"/>
                </a:solidFill>
              </a:rPr>
              <a:t> </a:t>
            </a:r>
            <a:r>
              <a:rPr lang="hr-HR" sz="4000" dirty="0" err="1">
                <a:solidFill>
                  <a:schemeClr val="bg1"/>
                </a:solidFill>
              </a:rPr>
              <a:t>organizujemo</a:t>
            </a:r>
            <a:r>
              <a:rPr lang="hr-HR" sz="4000" dirty="0">
                <a:solidFill>
                  <a:schemeClr val="bg1"/>
                </a:solidFill>
              </a:rPr>
              <a:t> i održimo računar  urednim</a:t>
            </a:r>
          </a:p>
        </p:txBody>
      </p:sp>
      <p:sp>
        <p:nvSpPr>
          <p:cNvPr id="14" name="TekstniOkvir 13">
            <a:extLst>
              <a:ext uri="{FF2B5EF4-FFF2-40B4-BE49-F238E27FC236}">
                <a16:creationId xmlns:a16="http://schemas.microsoft.com/office/drawing/2014/main" id="{BFA04262-33C3-ECC3-07B8-9506A465901D}"/>
              </a:ext>
            </a:extLst>
          </p:cNvPr>
          <p:cNvSpPr txBox="1"/>
          <p:nvPr/>
        </p:nvSpPr>
        <p:spPr>
          <a:xfrm>
            <a:off x="-1086088" y="-5351023"/>
            <a:ext cx="1000231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4000" dirty="0">
                <a:solidFill>
                  <a:schemeClr val="bg1"/>
                </a:solidFill>
              </a:rPr>
              <a:t>Najčešće radnje</a:t>
            </a:r>
            <a:r>
              <a:rPr lang="hr-HR" sz="28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Premještanje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Kopiranje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Brisanje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r-HR" sz="3600" dirty="0">
                <a:solidFill>
                  <a:schemeClr val="bg1"/>
                </a:solidFill>
              </a:rPr>
              <a:t>Preimenovanje</a:t>
            </a:r>
          </a:p>
        </p:txBody>
      </p:sp>
      <p:pic>
        <p:nvPicPr>
          <p:cNvPr id="16" name="Slika 15">
            <a:extLst>
              <a:ext uri="{FF2B5EF4-FFF2-40B4-BE49-F238E27FC236}">
                <a16:creationId xmlns:a16="http://schemas.microsoft.com/office/drawing/2014/main" id="{9A2DB49A-1C1D-3B4D-D9AD-3246A0BBC5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9033" y="-6126997"/>
            <a:ext cx="3952627" cy="3236252"/>
          </a:xfrm>
          <a:prstGeom prst="rect">
            <a:avLst/>
          </a:prstGeom>
        </p:spPr>
      </p:pic>
      <p:sp>
        <p:nvSpPr>
          <p:cNvPr id="15" name="TekstniOkvir 14">
            <a:extLst>
              <a:ext uri="{FF2B5EF4-FFF2-40B4-BE49-F238E27FC236}">
                <a16:creationId xmlns:a16="http://schemas.microsoft.com/office/drawing/2014/main" id="{3A90AA0C-8158-E2A3-AAC8-3A56FE071B83}"/>
              </a:ext>
            </a:extLst>
          </p:cNvPr>
          <p:cNvSpPr txBox="1"/>
          <p:nvPr/>
        </p:nvSpPr>
        <p:spPr>
          <a:xfrm>
            <a:off x="28889" y="167625"/>
            <a:ext cx="111071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6000" dirty="0">
                <a:solidFill>
                  <a:schemeClr val="bg1"/>
                </a:solidFill>
                <a:latin typeface="Felix Titling" panose="04060505060202020A04" pitchFamily="82" charset="0"/>
              </a:rPr>
              <a:t>NAČINI MANIPULACIJE FAJLOVIMA</a:t>
            </a:r>
          </a:p>
        </p:txBody>
      </p:sp>
      <p:sp>
        <p:nvSpPr>
          <p:cNvPr id="17" name="TekstniOkvir 16">
            <a:extLst>
              <a:ext uri="{FF2B5EF4-FFF2-40B4-BE49-F238E27FC236}">
                <a16:creationId xmlns:a16="http://schemas.microsoft.com/office/drawing/2014/main" id="{47D95D20-26D4-1B76-091E-A312ECC11D7B}"/>
              </a:ext>
            </a:extLst>
          </p:cNvPr>
          <p:cNvSpPr txBox="1"/>
          <p:nvPr/>
        </p:nvSpPr>
        <p:spPr>
          <a:xfrm>
            <a:off x="-2799" y="2182288"/>
            <a:ext cx="111388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4000" dirty="0" err="1">
                <a:solidFill>
                  <a:schemeClr val="bg1"/>
                </a:solidFill>
              </a:rPr>
              <a:t>Mišem:povuci</a:t>
            </a:r>
            <a:r>
              <a:rPr lang="hr-HR" sz="4000" dirty="0">
                <a:solidFill>
                  <a:schemeClr val="bg1"/>
                </a:solidFill>
              </a:rPr>
              <a:t> i pusti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4000" dirty="0">
                <a:solidFill>
                  <a:schemeClr val="bg1"/>
                </a:solidFill>
              </a:rPr>
              <a:t>Desni </a:t>
            </a:r>
            <a:r>
              <a:rPr lang="hr-HR" sz="4000" dirty="0" err="1">
                <a:solidFill>
                  <a:schemeClr val="bg1"/>
                </a:solidFill>
              </a:rPr>
              <a:t>klik:izor</a:t>
            </a:r>
            <a:r>
              <a:rPr lang="hr-HR" sz="4000" dirty="0">
                <a:solidFill>
                  <a:schemeClr val="bg1"/>
                </a:solidFill>
              </a:rPr>
              <a:t> opcija </a:t>
            </a:r>
            <a:r>
              <a:rPr lang="hr-HR" sz="4000" dirty="0" err="1">
                <a:solidFill>
                  <a:schemeClr val="bg1"/>
                </a:solidFill>
              </a:rPr>
              <a:t>Copy,Paste,rename,Delete</a:t>
            </a:r>
            <a:endParaRPr lang="hr-HR" sz="4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4000" dirty="0">
                <a:solidFill>
                  <a:schemeClr val="bg1"/>
                </a:solidFill>
              </a:rPr>
              <a:t>Prečice na </a:t>
            </a:r>
            <a:r>
              <a:rPr lang="hr-HR" sz="4000" dirty="0" err="1">
                <a:solidFill>
                  <a:schemeClr val="bg1"/>
                </a:solidFill>
              </a:rPr>
              <a:t>tastaturI</a:t>
            </a:r>
            <a:endParaRPr lang="hr-HR" sz="4000" dirty="0">
              <a:solidFill>
                <a:schemeClr val="bg1"/>
              </a:solidFill>
            </a:endParaRPr>
          </a:p>
        </p:txBody>
      </p:sp>
      <p:pic>
        <p:nvPicPr>
          <p:cNvPr id="18" name="Slika 17">
            <a:extLst>
              <a:ext uri="{FF2B5EF4-FFF2-40B4-BE49-F238E27FC236}">
                <a16:creationId xmlns:a16="http://schemas.microsoft.com/office/drawing/2014/main" id="{F15182C1-F353-5A9A-6B52-0C337AD206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2147" y="3473675"/>
            <a:ext cx="4572000" cy="6433399"/>
          </a:xfrm>
          <a:prstGeom prst="rect">
            <a:avLst/>
          </a:prstGeom>
        </p:spPr>
      </p:pic>
      <p:pic>
        <p:nvPicPr>
          <p:cNvPr id="20" name="Picture 8" descr="Black background Images - Free Download on Freepik">
            <a:extLst>
              <a:ext uri="{FF2B5EF4-FFF2-40B4-BE49-F238E27FC236}">
                <a16:creationId xmlns:a16="http://schemas.microsoft.com/office/drawing/2014/main" id="{BA2A4D81-518C-5846-149F-34B00DC4B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0945" y="-33700"/>
            <a:ext cx="12685914" cy="72335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Slika 20">
            <a:extLst>
              <a:ext uri="{FF2B5EF4-FFF2-40B4-BE49-F238E27FC236}">
                <a16:creationId xmlns:a16="http://schemas.microsoft.com/office/drawing/2014/main" id="{B7137898-97F8-9082-CDDE-4B38E17BD0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9177" y="300037"/>
            <a:ext cx="7862483" cy="6390338"/>
          </a:xfrm>
          <a:prstGeom prst="rect">
            <a:avLst/>
          </a:prstGeom>
        </p:spPr>
      </p:pic>
      <p:sp>
        <p:nvSpPr>
          <p:cNvPr id="22" name="TekstniOkvir 21">
            <a:extLst>
              <a:ext uri="{FF2B5EF4-FFF2-40B4-BE49-F238E27FC236}">
                <a16:creationId xmlns:a16="http://schemas.microsoft.com/office/drawing/2014/main" id="{8CB80909-1818-77C8-D076-BB48A31E9520}"/>
              </a:ext>
            </a:extLst>
          </p:cNvPr>
          <p:cNvSpPr txBox="1"/>
          <p:nvPr/>
        </p:nvSpPr>
        <p:spPr>
          <a:xfrm>
            <a:off x="2606906" y="2000874"/>
            <a:ext cx="7044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6600" dirty="0">
                <a:solidFill>
                  <a:schemeClr val="bg1"/>
                </a:solidFill>
              </a:rPr>
              <a:t>HVALA NA PAŽNJI</a:t>
            </a:r>
            <a:r>
              <a:rPr lang="hr-HR" sz="7200" dirty="0"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7320589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550</Words>
  <Application>Microsoft Office PowerPoint</Application>
  <PresentationFormat>Široki zaslon</PresentationFormat>
  <Paragraphs>143</Paragraphs>
  <Slides>8</Slides>
  <Notes>7</Notes>
  <HiddenSlides>0</HiddenSlides>
  <MMClips>0</MMClips>
  <ScaleCrop>false</ScaleCrop>
  <HeadingPairs>
    <vt:vector size="6" baseType="variant">
      <vt:variant>
        <vt:lpstr>Korišteni fontovi</vt:lpstr>
      </vt:variant>
      <vt:variant>
        <vt:i4>6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Felix Titling</vt:lpstr>
      <vt:lpstr>Wingdings</vt:lpstr>
      <vt:lpstr>Tema sustava Office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Zahirovic</dc:creator>
  <cp:lastModifiedBy>Fatima Zahirovic</cp:lastModifiedBy>
  <cp:revision>5</cp:revision>
  <dcterms:created xsi:type="dcterms:W3CDTF">2025-10-05T08:05:26Z</dcterms:created>
  <dcterms:modified xsi:type="dcterms:W3CDTF">2025-10-08T06:04:31Z</dcterms:modified>
</cp:coreProperties>
</file>